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embeddedFontLst>
    <p:embeddedFont>
      <p:font typeface="IBM Plex Sans" panose="020B0503050203000203" pitchFamily="34" charset="0"/>
      <p:regular r:id="rId17"/>
      <p:bold r:id="rId18"/>
    </p:embeddedFont>
    <p:embeddedFont>
      <p:font typeface="JetBrains Mono" panose="020B060402020202020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138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centralized backup and recovery server built on Linux with shell scripts, cron and a Tkinter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the goal and the approach in one pass. Keep it short; details follow on later slides.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items are the required deliverables for the microproject: scripts, cron jobs, recovery demonstration and logs.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left to right: the user works through the dashboard, which runs the backend scripts. Cron and system services support the scripts, and everything lands in the storage folders.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component has one job. The dashboard never does backup work itself; it calls the scripts and shows what they print.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Backups are compressed tar archives, so each one is a single file that can be listed, checksummed and restored.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driven by backup.sh. Full backups are the baseline; incremental backups keep the archive current without copying everything again.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Scheduling removes the human step: incremental backups happen on their own and every run leaves a log entry.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recovery demonstration deliverable. Show checksum first, then restore, then the recovery test, ideally live from the dashboard.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a live demo here if possible: run a full backup, then an incremental one, then list the backups.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dashboard button maps to exactly one backend script, which keeps the design simple to test and extend.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 make the system auditable: you can always see what ran, when, and whether it worked.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the outcomes back to the four deliverables: scripts, cron jobs, recovery demonstration and logs. The next steps are ideas for extension, not part of the current build.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and offer to run the dashboard live.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122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241"/>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F4F6F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70881"/>
            <a:ext cx="10566400" cy="4074319"/>
          </a:xfrm>
          <a:prstGeom prst="rect">
            <a:avLst/>
          </a:prstGeom>
          <a:noFill/>
          <a:ln/>
        </p:spPr>
        <p:txBody>
          <a:bodyPr wrap="square" lIns="0" tIns="0" rIns="0" bIns="0" rtlCol="0" anchor="t"/>
          <a:lstStyle>
            <a:lvl1pPr marL="0" indent="0" algn="l">
              <a:lnSpc>
                <a:spcPct val="140000"/>
              </a:lnSpc>
              <a:buNone/>
              <a:defRPr lang="en-US" sz="1600" dirty="0">
                <a:solidFill>
                  <a:srgbClr val="F4F6F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241"/>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F4F6F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70881"/>
            <a:ext cx="10566400" cy="4074319"/>
          </a:xfrm>
          <a:prstGeom prst="rect">
            <a:avLst/>
          </a:prstGeom>
          <a:noFill/>
          <a:ln/>
        </p:spPr>
        <p:txBody>
          <a:bodyPr wrap="square" lIns="0" tIns="0" rIns="0" bIns="0" rtlCol="0" anchor="t"/>
          <a:lstStyle>
            <a:lvl1pPr marL="0" indent="0" algn="l">
              <a:lnSpc>
                <a:spcPct val="140000"/>
              </a:lnSpc>
              <a:buNone/>
              <a:defRPr lang="en-US" sz="1600" dirty="0">
                <a:solidFill>
                  <a:srgbClr val="F4F6F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12800" y="137933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22C7E8"/>
                </a:solidFill>
                <a:latin typeface="JetBrains Mono" pitchFamily="49" charset="0"/>
                <a:ea typeface="JetBrains Mono" pitchFamily="49" charset="-122"/>
                <a:cs typeface="JetBrains Mono" pitchFamily="49" charset="-120"/>
              </a:rPr>
              <a:t>LINUX SYSTEM ADMINISTRATION</a:t>
            </a:r>
            <a:endParaRPr lang="en-US" sz="1400" dirty="0"/>
          </a:p>
        </p:txBody>
      </p:sp>
      <p:sp>
        <p:nvSpPr>
          <p:cNvPr id="3" name="Text 1"/>
          <p:cNvSpPr>
            <a:spLocks noGrp="1"/>
          </p:cNvSpPr>
          <p:nvPr>
            <p:ph type="title"/>
          </p:nvPr>
        </p:nvSpPr>
        <p:spPr>
          <a:xfrm>
            <a:off x="812800" y="1882180"/>
            <a:ext cx="10883392" cy="1785541"/>
          </a:xfrm>
          <a:prstGeom prst="rect">
            <a:avLst/>
          </a:prstGeom>
          <a:noFill/>
          <a:ln/>
        </p:spPr>
        <p:txBody>
          <a:bodyPr wrap="square" lIns="0" tIns="0" rIns="0" bIns="0" rtlCol="0" anchor="t">
            <a:normAutofit/>
          </a:bodyPr>
          <a:lstStyle/>
          <a:p>
            <a:pPr marL="0" indent="0" algn="l">
              <a:lnSpc>
                <a:spcPts val="6930"/>
              </a:lnSpc>
              <a:buNone/>
            </a:pPr>
            <a:r>
              <a:rPr lang="en-US" sz="6600" b="1" i="0" dirty="0">
                <a:solidFill>
                  <a:srgbClr val="F4F6FA"/>
                </a:solidFill>
                <a:latin typeface="IBM Plex Sans" pitchFamily="34" charset="0"/>
                <a:ea typeface="IBM Plex Sans" pitchFamily="34" charset="-122"/>
                <a:cs typeface="IBM Plex Sans" pitchFamily="34" charset="-120"/>
              </a:rPr>
              <a:t>Centralized Backup &amp; Recovery Server</a:t>
            </a:r>
            <a:endParaRPr lang="en-US" sz="6600" dirty="0"/>
          </a:p>
        </p:txBody>
      </p:sp>
      <p:sp>
        <p:nvSpPr>
          <p:cNvPr id="4" name="Text 2"/>
          <p:cNvSpPr/>
          <p:nvPr/>
        </p:nvSpPr>
        <p:spPr>
          <a:xfrm>
            <a:off x="812800" y="3896320"/>
            <a:ext cx="784860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9FB0C8"/>
                </a:solidFill>
                <a:latin typeface="IBM Plex Sans" pitchFamily="34" charset="0"/>
                <a:ea typeface="IBM Plex Sans" pitchFamily="34" charset="-122"/>
                <a:cs typeface="IBM Plex Sans" pitchFamily="34" charset="-120"/>
              </a:rPr>
              <a:t>A Linux backup server with full, incremental and scheduled backups, plus recovery testing.</a:t>
            </a:r>
            <a:endParaRPr lang="en-US" sz="2000" dirty="0"/>
          </a:p>
        </p:txBody>
      </p:sp>
      <p:sp>
        <p:nvSpPr>
          <p:cNvPr id="5" name="Text 3"/>
          <p:cNvSpPr/>
          <p:nvPr/>
        </p:nvSpPr>
        <p:spPr>
          <a:xfrm>
            <a:off x="815975" y="4864695"/>
            <a:ext cx="1338461" cy="407591"/>
          </a:xfrm>
          <a:prstGeom prst="roundRect">
            <a:avLst>
              <a:gd name="adj" fmla="val 50000"/>
            </a:avLst>
          </a:prstGeom>
          <a:solidFill>
            <a:srgbClr val="131C31"/>
          </a:solidFill>
          <a:ln w="6350">
            <a:solidFill>
              <a:srgbClr val="22304D"/>
            </a:solidFill>
            <a:prstDash val="solid"/>
          </a:ln>
        </p:spPr>
        <p:txBody>
          <a:bodyPr wrap="none" lIns="0" tIns="0" rIns="0" bIns="0" rtlCol="0" anchor="ctr">
            <a:normAutofit/>
          </a:bodyPr>
          <a:lstStyle/>
          <a:p>
            <a:pPr marL="0" indent="0" algn="ctr">
              <a:lnSpc>
                <a:spcPts val="1960"/>
              </a:lnSpc>
              <a:buNone/>
            </a:pPr>
            <a:r>
              <a:rPr lang="en-US" sz="1400" dirty="0">
                <a:solidFill>
                  <a:srgbClr val="E6ECF5"/>
                </a:solidFill>
                <a:latin typeface="IBM Plex Sans" pitchFamily="34" charset="0"/>
                <a:ea typeface="IBM Plex Sans" pitchFamily="34" charset="-122"/>
                <a:cs typeface="IBM Plex Sans" pitchFamily="34" charset="-120"/>
              </a:rPr>
              <a:t>Shell scripts</a:t>
            </a:r>
            <a:endParaRPr lang="en-US" sz="1400" dirty="0"/>
          </a:p>
        </p:txBody>
      </p:sp>
      <p:sp>
        <p:nvSpPr>
          <p:cNvPr id="6" name="Text 4"/>
          <p:cNvSpPr/>
          <p:nvPr/>
        </p:nvSpPr>
        <p:spPr>
          <a:xfrm>
            <a:off x="2262386" y="4864695"/>
            <a:ext cx="1113036" cy="407591"/>
          </a:xfrm>
          <a:prstGeom prst="roundRect">
            <a:avLst>
              <a:gd name="adj" fmla="val 50000"/>
            </a:avLst>
          </a:prstGeom>
          <a:solidFill>
            <a:srgbClr val="131C31"/>
          </a:solidFill>
          <a:ln w="6350">
            <a:solidFill>
              <a:srgbClr val="22304D"/>
            </a:solidFill>
            <a:prstDash val="solid"/>
          </a:ln>
        </p:spPr>
        <p:txBody>
          <a:bodyPr wrap="none" lIns="0" tIns="0" rIns="0" bIns="0" rtlCol="0" anchor="ctr">
            <a:normAutofit/>
          </a:bodyPr>
          <a:lstStyle/>
          <a:p>
            <a:pPr marL="0" indent="0" algn="ctr">
              <a:lnSpc>
                <a:spcPts val="1960"/>
              </a:lnSpc>
              <a:buNone/>
            </a:pPr>
            <a:r>
              <a:rPr lang="en-US" sz="1400" dirty="0">
                <a:solidFill>
                  <a:srgbClr val="E6ECF5"/>
                </a:solidFill>
                <a:latin typeface="IBM Plex Sans" pitchFamily="34" charset="0"/>
                <a:ea typeface="IBM Plex Sans" pitchFamily="34" charset="-122"/>
                <a:cs typeface="IBM Plex Sans" pitchFamily="34" charset="-120"/>
              </a:rPr>
              <a:t>Cron jobs</a:t>
            </a:r>
            <a:endParaRPr lang="en-US" sz="1400" dirty="0"/>
          </a:p>
        </p:txBody>
      </p:sp>
      <p:sp>
        <p:nvSpPr>
          <p:cNvPr id="7" name="Text 5"/>
          <p:cNvSpPr/>
          <p:nvPr/>
        </p:nvSpPr>
        <p:spPr>
          <a:xfrm>
            <a:off x="3483372" y="4864695"/>
            <a:ext cx="1594148" cy="407591"/>
          </a:xfrm>
          <a:prstGeom prst="roundRect">
            <a:avLst>
              <a:gd name="adj" fmla="val 50000"/>
            </a:avLst>
          </a:prstGeom>
          <a:solidFill>
            <a:srgbClr val="131C31"/>
          </a:solidFill>
          <a:ln w="6350">
            <a:solidFill>
              <a:srgbClr val="22304D"/>
            </a:solidFill>
            <a:prstDash val="solid"/>
          </a:ln>
        </p:spPr>
        <p:txBody>
          <a:bodyPr wrap="none" lIns="0" tIns="0" rIns="0" bIns="0" rtlCol="0" anchor="ctr">
            <a:normAutofit/>
          </a:bodyPr>
          <a:lstStyle/>
          <a:p>
            <a:pPr marL="0" indent="0" algn="ctr">
              <a:lnSpc>
                <a:spcPts val="1960"/>
              </a:lnSpc>
              <a:buNone/>
            </a:pPr>
            <a:r>
              <a:rPr lang="en-US" sz="1400" dirty="0">
                <a:solidFill>
                  <a:srgbClr val="E6ECF5"/>
                </a:solidFill>
                <a:latin typeface="IBM Plex Sans" pitchFamily="34" charset="0"/>
                <a:ea typeface="IBM Plex Sans" pitchFamily="34" charset="-122"/>
                <a:cs typeface="IBM Plex Sans" pitchFamily="34" charset="-120"/>
              </a:rPr>
              <a:t>Recovery demo</a:t>
            </a:r>
            <a:endParaRPr lang="en-US" sz="1400" dirty="0"/>
          </a:p>
        </p:txBody>
      </p:sp>
      <p:sp>
        <p:nvSpPr>
          <p:cNvPr id="8" name="Text 6"/>
          <p:cNvSpPr/>
          <p:nvPr/>
        </p:nvSpPr>
        <p:spPr>
          <a:xfrm>
            <a:off x="5185470" y="4864695"/>
            <a:ext cx="729357" cy="407591"/>
          </a:xfrm>
          <a:prstGeom prst="roundRect">
            <a:avLst>
              <a:gd name="adj" fmla="val 50000"/>
            </a:avLst>
          </a:prstGeom>
          <a:solidFill>
            <a:srgbClr val="131C31"/>
          </a:solidFill>
          <a:ln w="6350">
            <a:solidFill>
              <a:srgbClr val="22304D"/>
            </a:solidFill>
            <a:prstDash val="solid"/>
          </a:ln>
        </p:spPr>
        <p:txBody>
          <a:bodyPr wrap="none" lIns="0" tIns="0" rIns="0" bIns="0" rtlCol="0" anchor="ctr">
            <a:normAutofit/>
          </a:bodyPr>
          <a:lstStyle/>
          <a:p>
            <a:pPr marL="0" indent="0" algn="ctr">
              <a:lnSpc>
                <a:spcPts val="1960"/>
              </a:lnSpc>
              <a:buNone/>
            </a:pPr>
            <a:r>
              <a:rPr lang="en-US" sz="1400" dirty="0">
                <a:solidFill>
                  <a:srgbClr val="E6ECF5"/>
                </a:solidFill>
                <a:latin typeface="IBM Plex Sans" pitchFamily="34" charset="0"/>
                <a:ea typeface="IBM Plex Sans" pitchFamily="34" charset="-122"/>
                <a:cs typeface="IBM Plex Sans" pitchFamily="34" charset="-120"/>
              </a:rPr>
              <a:t>Logs</a:t>
            </a:r>
            <a:endParaRPr lang="en-US" sz="14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0A7490"/>
                </a:solidFill>
                <a:latin typeface="JetBrains Mono" pitchFamily="49" charset="0"/>
                <a:ea typeface="JetBrains Mono" pitchFamily="49" charset="-122"/>
                <a:cs typeface="JetBrains Mono" pitchFamily="49" charset="-120"/>
              </a:rPr>
              <a:t>OBJECTIVE</a:t>
            </a:r>
            <a:endParaRPr lang="en-US" sz="1400" dirty="0"/>
          </a:p>
        </p:txBody>
      </p:sp>
      <p:sp>
        <p:nvSpPr>
          <p:cNvPr id="3" name="Text 1"/>
          <p:cNvSpPr>
            <a:spLocks noGrp="1"/>
          </p:cNvSpPr>
          <p:nvPr>
            <p:ph type="title"/>
          </p:nvPr>
        </p:nvSpPr>
        <p:spPr>
          <a:xfrm>
            <a:off x="812800" y="1163241"/>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220"/>
                </a:solidFill>
                <a:latin typeface="IBM Plex Sans" pitchFamily="34" charset="0"/>
                <a:ea typeface="IBM Plex Sans" pitchFamily="34" charset="-122"/>
                <a:cs typeface="IBM Plex Sans" pitchFamily="34" charset="-120"/>
              </a:rPr>
              <a:t>Protect data, and prove it can be recovered</a:t>
            </a:r>
            <a:endParaRPr lang="en-US" sz="3600" dirty="0"/>
          </a:p>
        </p:txBody>
      </p:sp>
      <p:sp>
        <p:nvSpPr>
          <p:cNvPr id="4" name="Shape 2"/>
          <p:cNvSpPr/>
          <p:nvPr/>
        </p:nvSpPr>
        <p:spPr>
          <a:xfrm>
            <a:off x="815975" y="2024856"/>
            <a:ext cx="3380284" cy="2058591"/>
          </a:xfrm>
          <a:prstGeom prst="roundRect">
            <a:avLst>
              <a:gd name="adj" fmla="val 4781"/>
            </a:avLst>
          </a:prstGeom>
          <a:solidFill>
            <a:srgbClr val="FFFFFF"/>
          </a:solidFill>
          <a:ln w="6350">
            <a:solidFill>
              <a:srgbClr val="DDE3EE"/>
            </a:solidFill>
            <a:prstDash val="solid"/>
          </a:ln>
        </p:spPr>
        <p:txBody>
          <a:bodyPr/>
          <a:lstStyle/>
          <a:p>
            <a:endParaRPr lang="en-US"/>
          </a:p>
        </p:txBody>
      </p:sp>
      <p:sp>
        <p:nvSpPr>
          <p:cNvPr id="5" name="Text 3"/>
          <p:cNvSpPr/>
          <p:nvPr/>
        </p:nvSpPr>
        <p:spPr>
          <a:xfrm>
            <a:off x="1073150" y="2282031"/>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A7490"/>
                </a:solidFill>
                <a:latin typeface="IBM Plex Sans" pitchFamily="34" charset="0"/>
                <a:ea typeface="IBM Plex Sans" pitchFamily="34" charset="-122"/>
                <a:cs typeface="IBM Plex Sans" pitchFamily="34" charset="-120"/>
              </a:rPr>
              <a:t>The problem</a:t>
            </a:r>
            <a:endParaRPr lang="en-US" sz="2000" dirty="0"/>
          </a:p>
        </p:txBody>
      </p:sp>
      <p:sp>
        <p:nvSpPr>
          <p:cNvPr id="6" name="Text 4"/>
          <p:cNvSpPr/>
          <p:nvPr/>
        </p:nvSpPr>
        <p:spPr>
          <a:xfrm>
            <a:off x="1073150" y="2688431"/>
            <a:ext cx="2951912"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63"/>
                </a:solidFill>
                <a:latin typeface="IBM Plex Sans" pitchFamily="34" charset="0"/>
                <a:ea typeface="IBM Plex Sans" pitchFamily="34" charset="-122"/>
                <a:cs typeface="IBM Plex Sans" pitchFamily="34" charset="-120"/>
              </a:rPr>
              <a:t>Files get deleted, corrupted or lost to hardware failure, and manual copies are inconsistent and untested.</a:t>
            </a:r>
            <a:endParaRPr lang="en-US" sz="1600" dirty="0"/>
          </a:p>
        </p:txBody>
      </p:sp>
      <p:sp>
        <p:nvSpPr>
          <p:cNvPr id="7" name="Shape 5"/>
          <p:cNvSpPr/>
          <p:nvPr/>
        </p:nvSpPr>
        <p:spPr>
          <a:xfrm>
            <a:off x="4405809" y="2024856"/>
            <a:ext cx="3380383" cy="2058591"/>
          </a:xfrm>
          <a:prstGeom prst="roundRect">
            <a:avLst>
              <a:gd name="adj" fmla="val 4781"/>
            </a:avLst>
          </a:prstGeom>
          <a:solidFill>
            <a:srgbClr val="FFFFFF"/>
          </a:solidFill>
          <a:ln w="6350">
            <a:solidFill>
              <a:srgbClr val="DDE3EE"/>
            </a:solidFill>
            <a:prstDash val="solid"/>
          </a:ln>
        </p:spPr>
        <p:txBody>
          <a:bodyPr/>
          <a:lstStyle/>
          <a:p>
            <a:endParaRPr lang="en-US"/>
          </a:p>
        </p:txBody>
      </p:sp>
      <p:sp>
        <p:nvSpPr>
          <p:cNvPr id="8" name="Text 6"/>
          <p:cNvSpPr/>
          <p:nvPr/>
        </p:nvSpPr>
        <p:spPr>
          <a:xfrm>
            <a:off x="4662984" y="2282031"/>
            <a:ext cx="295201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A7490"/>
                </a:solidFill>
                <a:latin typeface="IBM Plex Sans" pitchFamily="34" charset="0"/>
                <a:ea typeface="IBM Plex Sans" pitchFamily="34" charset="-122"/>
                <a:cs typeface="IBM Plex Sans" pitchFamily="34" charset="-120"/>
              </a:rPr>
              <a:t>The goal</a:t>
            </a:r>
            <a:endParaRPr lang="en-US" sz="2000" dirty="0"/>
          </a:p>
        </p:txBody>
      </p:sp>
      <p:sp>
        <p:nvSpPr>
          <p:cNvPr id="9" name="Text 7"/>
          <p:cNvSpPr/>
          <p:nvPr/>
        </p:nvSpPr>
        <p:spPr>
          <a:xfrm>
            <a:off x="4662984" y="2688431"/>
            <a:ext cx="2952014"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63"/>
                </a:solidFill>
                <a:latin typeface="IBM Plex Sans" pitchFamily="34" charset="0"/>
                <a:ea typeface="IBM Plex Sans" pitchFamily="34" charset="-122"/>
                <a:cs typeface="IBM Plex Sans" pitchFamily="34" charset="-120"/>
              </a:rPr>
              <a:t>One central Linux server that automates backups, keeps them in one place and verifies that recovery works.</a:t>
            </a:r>
            <a:endParaRPr lang="en-US" sz="1600" dirty="0"/>
          </a:p>
        </p:txBody>
      </p:sp>
      <p:sp>
        <p:nvSpPr>
          <p:cNvPr id="10" name="Shape 8"/>
          <p:cNvSpPr/>
          <p:nvPr/>
        </p:nvSpPr>
        <p:spPr>
          <a:xfrm>
            <a:off x="7995741" y="2024856"/>
            <a:ext cx="3380284" cy="2058591"/>
          </a:xfrm>
          <a:prstGeom prst="roundRect">
            <a:avLst>
              <a:gd name="adj" fmla="val 4781"/>
            </a:avLst>
          </a:prstGeom>
          <a:solidFill>
            <a:srgbClr val="FFFFFF"/>
          </a:solidFill>
          <a:ln w="6350">
            <a:solidFill>
              <a:srgbClr val="DDE3EE"/>
            </a:solidFill>
            <a:prstDash val="solid"/>
          </a:ln>
        </p:spPr>
        <p:txBody>
          <a:bodyPr/>
          <a:lstStyle/>
          <a:p>
            <a:endParaRPr lang="en-US"/>
          </a:p>
        </p:txBody>
      </p:sp>
      <p:sp>
        <p:nvSpPr>
          <p:cNvPr id="11" name="Text 9"/>
          <p:cNvSpPr/>
          <p:nvPr/>
        </p:nvSpPr>
        <p:spPr>
          <a:xfrm>
            <a:off x="8252916" y="2282031"/>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A7490"/>
                </a:solidFill>
                <a:latin typeface="IBM Plex Sans" pitchFamily="34" charset="0"/>
                <a:ea typeface="IBM Plex Sans" pitchFamily="34" charset="-122"/>
                <a:cs typeface="IBM Plex Sans" pitchFamily="34" charset="-120"/>
              </a:rPr>
              <a:t>The approach</a:t>
            </a:r>
            <a:endParaRPr lang="en-US" sz="2000" dirty="0"/>
          </a:p>
        </p:txBody>
      </p:sp>
      <p:sp>
        <p:nvSpPr>
          <p:cNvPr id="12" name="Text 10"/>
          <p:cNvSpPr/>
          <p:nvPr/>
        </p:nvSpPr>
        <p:spPr>
          <a:xfrm>
            <a:off x="8252916" y="2688431"/>
            <a:ext cx="2951912"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63"/>
                </a:solidFill>
                <a:latin typeface="IBM Plex Sans" pitchFamily="34" charset="0"/>
                <a:ea typeface="IBM Plex Sans" pitchFamily="34" charset="-122"/>
                <a:cs typeface="IBM Plex Sans" pitchFamily="34" charset="-120"/>
              </a:rPr>
              <a:t>Shell scripts for each task, cron for scheduling, and a Tkinter dashboard that runs everything from one menu.</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22C7E8"/>
                </a:solidFill>
                <a:latin typeface="JetBrains Mono" pitchFamily="49" charset="0"/>
                <a:ea typeface="JetBrains Mono" pitchFamily="49" charset="-122"/>
                <a:cs typeface="JetBrains Mono" pitchFamily="49" charset="-120"/>
              </a:rPr>
              <a:t>DELIVERABLES</a:t>
            </a:r>
            <a:endParaRPr lang="en-US" sz="1400" dirty="0"/>
          </a:p>
        </p:txBody>
      </p:sp>
      <p:sp>
        <p:nvSpPr>
          <p:cNvPr id="3" name="Text 1"/>
          <p:cNvSpPr>
            <a:spLocks noGrp="1"/>
          </p:cNvSpPr>
          <p:nvPr>
            <p:ph type="title"/>
          </p:nvPr>
        </p:nvSpPr>
        <p:spPr>
          <a:xfrm>
            <a:off x="812800" y="1163241"/>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6FA"/>
                </a:solidFill>
                <a:latin typeface="IBM Plex Sans" pitchFamily="34" charset="0"/>
                <a:ea typeface="IBM Plex Sans" pitchFamily="34" charset="-122"/>
                <a:cs typeface="IBM Plex Sans" pitchFamily="34" charset="-120"/>
              </a:rPr>
              <a:t>What the project delivers</a:t>
            </a:r>
            <a:endParaRPr lang="en-US" sz="3600" dirty="0"/>
          </a:p>
        </p:txBody>
      </p:sp>
      <p:sp>
        <p:nvSpPr>
          <p:cNvPr id="4" name="Shape 2"/>
          <p:cNvSpPr/>
          <p:nvPr/>
        </p:nvSpPr>
        <p:spPr>
          <a:xfrm>
            <a:off x="815975" y="2024856"/>
            <a:ext cx="2482850" cy="2444353"/>
          </a:xfrm>
          <a:prstGeom prst="roundRect">
            <a:avLst>
              <a:gd name="adj" fmla="val 4027"/>
            </a:avLst>
          </a:prstGeom>
          <a:solidFill>
            <a:srgbClr val="131C31"/>
          </a:solidFill>
          <a:ln w="6350">
            <a:solidFill>
              <a:srgbClr val="22304D"/>
            </a:solidFill>
            <a:prstDash val="solid"/>
          </a:ln>
        </p:spPr>
        <p:txBody>
          <a:bodyPr/>
          <a:lstStyle/>
          <a:p>
            <a:endParaRPr lang="en-US"/>
          </a:p>
        </p:txBody>
      </p:sp>
      <p:pic>
        <p:nvPicPr>
          <p:cNvPr id="5" name="Image 0" descr="Code"/>
          <p:cNvPicPr>
            <a:picLocks noChangeAspect="1"/>
          </p:cNvPicPr>
          <p:nvPr/>
        </p:nvPicPr>
        <p:blipFill>
          <a:blip r:embed="rId3"/>
          <a:srcRect/>
          <a:stretch/>
        </p:blipFill>
        <p:spPr>
          <a:xfrm>
            <a:off x="1073150" y="2282031"/>
            <a:ext cx="406400" cy="406400"/>
          </a:xfrm>
          <a:prstGeom prst="rect">
            <a:avLst/>
          </a:prstGeom>
        </p:spPr>
      </p:pic>
      <p:sp>
        <p:nvSpPr>
          <p:cNvPr id="6" name="Text 3"/>
          <p:cNvSpPr/>
          <p:nvPr/>
        </p:nvSpPr>
        <p:spPr>
          <a:xfrm>
            <a:off x="1073150" y="2815431"/>
            <a:ext cx="202755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6FA"/>
                </a:solidFill>
                <a:latin typeface="IBM Plex Sans" pitchFamily="34" charset="0"/>
                <a:ea typeface="IBM Plex Sans" pitchFamily="34" charset="-122"/>
                <a:cs typeface="IBM Plex Sans" pitchFamily="34" charset="-120"/>
              </a:rPr>
              <a:t>Backup scripts</a:t>
            </a:r>
            <a:endParaRPr lang="en-US" sz="1800" dirty="0"/>
          </a:p>
        </p:txBody>
      </p:sp>
      <p:sp>
        <p:nvSpPr>
          <p:cNvPr id="7" name="Text 4"/>
          <p:cNvSpPr/>
          <p:nvPr/>
        </p:nvSpPr>
        <p:spPr>
          <a:xfrm>
            <a:off x="1073150" y="3216672"/>
            <a:ext cx="2027555" cy="102076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FB0C8"/>
                </a:solidFill>
                <a:latin typeface="IBM Plex Sans" pitchFamily="34" charset="0"/>
                <a:ea typeface="IBM Plex Sans" pitchFamily="34" charset="-122"/>
                <a:cs typeface="IBM Plex Sans" pitchFamily="34" charset="-120"/>
              </a:rPr>
              <a:t>Ten shell scripts: full and incremental backup, restore, checksum and recovery tests.</a:t>
            </a:r>
            <a:endParaRPr lang="en-US" sz="1400" dirty="0"/>
          </a:p>
        </p:txBody>
      </p:sp>
      <p:sp>
        <p:nvSpPr>
          <p:cNvPr id="8" name="Shape 5"/>
          <p:cNvSpPr/>
          <p:nvPr/>
        </p:nvSpPr>
        <p:spPr>
          <a:xfrm>
            <a:off x="3508375" y="2024856"/>
            <a:ext cx="2482850" cy="2444353"/>
          </a:xfrm>
          <a:prstGeom prst="roundRect">
            <a:avLst>
              <a:gd name="adj" fmla="val 4027"/>
            </a:avLst>
          </a:prstGeom>
          <a:solidFill>
            <a:srgbClr val="131C31"/>
          </a:solidFill>
          <a:ln w="6350">
            <a:solidFill>
              <a:srgbClr val="22304D"/>
            </a:solidFill>
            <a:prstDash val="solid"/>
          </a:ln>
        </p:spPr>
        <p:txBody>
          <a:bodyPr/>
          <a:lstStyle/>
          <a:p>
            <a:endParaRPr lang="en-US"/>
          </a:p>
        </p:txBody>
      </p:sp>
      <p:pic>
        <p:nvPicPr>
          <p:cNvPr id="9" name="Image 1" descr="Clock"/>
          <p:cNvPicPr>
            <a:picLocks noChangeAspect="1"/>
          </p:cNvPicPr>
          <p:nvPr/>
        </p:nvPicPr>
        <p:blipFill>
          <a:blip r:embed="rId4"/>
          <a:srcRect/>
          <a:stretch/>
        </p:blipFill>
        <p:spPr>
          <a:xfrm>
            <a:off x="3765550" y="2282031"/>
            <a:ext cx="406400" cy="406400"/>
          </a:xfrm>
          <a:prstGeom prst="rect">
            <a:avLst/>
          </a:prstGeom>
        </p:spPr>
      </p:pic>
      <p:sp>
        <p:nvSpPr>
          <p:cNvPr id="10" name="Text 6"/>
          <p:cNvSpPr/>
          <p:nvPr/>
        </p:nvSpPr>
        <p:spPr>
          <a:xfrm>
            <a:off x="3765550" y="2815431"/>
            <a:ext cx="202755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6FA"/>
                </a:solidFill>
                <a:latin typeface="IBM Plex Sans" pitchFamily="34" charset="0"/>
                <a:ea typeface="IBM Plex Sans" pitchFamily="34" charset="-122"/>
                <a:cs typeface="IBM Plex Sans" pitchFamily="34" charset="-120"/>
              </a:rPr>
              <a:t>Cron jobs</a:t>
            </a:r>
            <a:endParaRPr lang="en-US" sz="1800" dirty="0"/>
          </a:p>
        </p:txBody>
      </p:sp>
      <p:sp>
        <p:nvSpPr>
          <p:cNvPr id="11" name="Text 7"/>
          <p:cNvSpPr/>
          <p:nvPr/>
        </p:nvSpPr>
        <p:spPr>
          <a:xfrm>
            <a:off x="3765550" y="3216672"/>
            <a:ext cx="202755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FB0C8"/>
                </a:solidFill>
                <a:latin typeface="IBM Plex Sans" pitchFamily="34" charset="0"/>
                <a:ea typeface="IBM Plex Sans" pitchFamily="34" charset="-122"/>
                <a:cs typeface="IBM Plex Sans" pitchFamily="34" charset="-120"/>
              </a:rPr>
              <a:t>Scheduled incremental backups, managed from a cron job menu.</a:t>
            </a:r>
            <a:endParaRPr lang="en-US" sz="1400" dirty="0"/>
          </a:p>
        </p:txBody>
      </p:sp>
      <p:sp>
        <p:nvSpPr>
          <p:cNvPr id="12" name="Shape 8"/>
          <p:cNvSpPr/>
          <p:nvPr/>
        </p:nvSpPr>
        <p:spPr>
          <a:xfrm>
            <a:off x="6200775" y="2024856"/>
            <a:ext cx="2482850" cy="2444353"/>
          </a:xfrm>
          <a:prstGeom prst="roundRect">
            <a:avLst>
              <a:gd name="adj" fmla="val 4027"/>
            </a:avLst>
          </a:prstGeom>
          <a:solidFill>
            <a:srgbClr val="131C31"/>
          </a:solidFill>
          <a:ln w="6350">
            <a:solidFill>
              <a:srgbClr val="22304D"/>
            </a:solidFill>
            <a:prstDash val="solid"/>
          </a:ln>
        </p:spPr>
        <p:txBody>
          <a:bodyPr/>
          <a:lstStyle/>
          <a:p>
            <a:endParaRPr lang="en-US"/>
          </a:p>
        </p:txBody>
      </p:sp>
      <p:pic>
        <p:nvPicPr>
          <p:cNvPr id="13" name="Image 2" descr="Verified"/>
          <p:cNvPicPr>
            <a:picLocks noChangeAspect="1"/>
          </p:cNvPicPr>
          <p:nvPr/>
        </p:nvPicPr>
        <p:blipFill>
          <a:blip r:embed="rId5"/>
          <a:srcRect/>
          <a:stretch/>
        </p:blipFill>
        <p:spPr>
          <a:xfrm>
            <a:off x="6457950" y="2282031"/>
            <a:ext cx="406400" cy="406400"/>
          </a:xfrm>
          <a:prstGeom prst="rect">
            <a:avLst/>
          </a:prstGeom>
        </p:spPr>
      </p:pic>
      <p:sp>
        <p:nvSpPr>
          <p:cNvPr id="14" name="Text 9"/>
          <p:cNvSpPr/>
          <p:nvPr/>
        </p:nvSpPr>
        <p:spPr>
          <a:xfrm>
            <a:off x="6457950" y="2815431"/>
            <a:ext cx="202755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6FA"/>
                </a:solidFill>
                <a:latin typeface="IBM Plex Sans" pitchFamily="34" charset="0"/>
                <a:ea typeface="IBM Plex Sans" pitchFamily="34" charset="-122"/>
                <a:cs typeface="IBM Plex Sans" pitchFamily="34" charset="-120"/>
              </a:rPr>
              <a:t>Recovery demo</a:t>
            </a:r>
            <a:endParaRPr lang="en-US" sz="1800" dirty="0"/>
          </a:p>
        </p:txBody>
      </p:sp>
      <p:sp>
        <p:nvSpPr>
          <p:cNvPr id="15" name="Text 10"/>
          <p:cNvSpPr/>
          <p:nvPr/>
        </p:nvSpPr>
        <p:spPr>
          <a:xfrm>
            <a:off x="6457950" y="3216672"/>
            <a:ext cx="2027555" cy="102076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FB0C8"/>
                </a:solidFill>
                <a:latin typeface="IBM Plex Sans" pitchFamily="34" charset="0"/>
                <a:ea typeface="IBM Plex Sans" pitchFamily="34" charset="-122"/>
                <a:cs typeface="IBM Plex Sans" pitchFamily="34" charset="-120"/>
              </a:rPr>
              <a:t>Restore to a chosen folder and run a recovery test on demand.</a:t>
            </a:r>
            <a:endParaRPr lang="en-US" sz="1400" dirty="0"/>
          </a:p>
        </p:txBody>
      </p:sp>
      <p:sp>
        <p:nvSpPr>
          <p:cNvPr id="16" name="Shape 11"/>
          <p:cNvSpPr/>
          <p:nvPr/>
        </p:nvSpPr>
        <p:spPr>
          <a:xfrm>
            <a:off x="8893175" y="2024856"/>
            <a:ext cx="2482850" cy="2444353"/>
          </a:xfrm>
          <a:prstGeom prst="roundRect">
            <a:avLst>
              <a:gd name="adj" fmla="val 4027"/>
            </a:avLst>
          </a:prstGeom>
          <a:solidFill>
            <a:srgbClr val="131C31"/>
          </a:solidFill>
          <a:ln w="6350">
            <a:solidFill>
              <a:srgbClr val="22304D"/>
            </a:solidFill>
            <a:prstDash val="solid"/>
          </a:ln>
        </p:spPr>
        <p:txBody>
          <a:bodyPr/>
          <a:lstStyle/>
          <a:p>
            <a:endParaRPr lang="en-US"/>
          </a:p>
        </p:txBody>
      </p:sp>
      <p:pic>
        <p:nvPicPr>
          <p:cNvPr id="17" name="Image 3" descr="Activity"/>
          <p:cNvPicPr>
            <a:picLocks noChangeAspect="1"/>
          </p:cNvPicPr>
          <p:nvPr/>
        </p:nvPicPr>
        <p:blipFill>
          <a:blip r:embed="rId6"/>
          <a:srcRect/>
          <a:stretch/>
        </p:blipFill>
        <p:spPr>
          <a:xfrm>
            <a:off x="9150350" y="2282031"/>
            <a:ext cx="406400" cy="406400"/>
          </a:xfrm>
          <a:prstGeom prst="rect">
            <a:avLst/>
          </a:prstGeom>
        </p:spPr>
      </p:pic>
      <p:sp>
        <p:nvSpPr>
          <p:cNvPr id="18" name="Text 12"/>
          <p:cNvSpPr/>
          <p:nvPr/>
        </p:nvSpPr>
        <p:spPr>
          <a:xfrm>
            <a:off x="9150350" y="2815431"/>
            <a:ext cx="202755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6FA"/>
                </a:solidFill>
                <a:latin typeface="IBM Plex Sans" pitchFamily="34" charset="0"/>
                <a:ea typeface="IBM Plex Sans" pitchFamily="34" charset="-122"/>
                <a:cs typeface="IBM Plex Sans" pitchFamily="34" charset="-120"/>
              </a:rPr>
              <a:t>Logs</a:t>
            </a:r>
            <a:endParaRPr lang="en-US" sz="1800" dirty="0"/>
          </a:p>
        </p:txBody>
      </p:sp>
      <p:sp>
        <p:nvSpPr>
          <p:cNvPr id="19" name="Text 13"/>
          <p:cNvSpPr/>
          <p:nvPr/>
        </p:nvSpPr>
        <p:spPr>
          <a:xfrm>
            <a:off x="9150350" y="3216672"/>
            <a:ext cx="202755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FB0C8"/>
                </a:solidFill>
                <a:latin typeface="IBM Plex Sans" pitchFamily="34" charset="0"/>
                <a:ea typeface="IBM Plex Sans" pitchFamily="34" charset="-122"/>
                <a:cs typeface="IBM Plex Sans" pitchFamily="34" charset="-120"/>
              </a:rPr>
              <a:t>backup.log and cron.log record every run and every scheduled job.</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70966"/>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0A7490"/>
                </a:solidFill>
                <a:latin typeface="JetBrains Mono" pitchFamily="49" charset="0"/>
                <a:ea typeface="JetBrains Mono" pitchFamily="49" charset="-122"/>
                <a:cs typeface="JetBrains Mono" pitchFamily="49" charset="-120"/>
              </a:rPr>
              <a:t>ARCHITECTURE</a:t>
            </a:r>
            <a:endParaRPr lang="en-US" sz="1400" dirty="0"/>
          </a:p>
        </p:txBody>
      </p:sp>
      <p:sp>
        <p:nvSpPr>
          <p:cNvPr id="3" name="Text 1"/>
          <p:cNvSpPr>
            <a:spLocks noGrp="1"/>
          </p:cNvSpPr>
          <p:nvPr>
            <p:ph type="title"/>
          </p:nvPr>
        </p:nvSpPr>
        <p:spPr>
          <a:xfrm>
            <a:off x="812800" y="931366"/>
            <a:ext cx="10883392" cy="466328"/>
          </a:xfrm>
          <a:prstGeom prst="rect">
            <a:avLst/>
          </a:prstGeom>
          <a:noFill/>
          <a:ln/>
        </p:spPr>
        <p:txBody>
          <a:bodyPr wrap="square" lIns="0" tIns="0" rIns="0" bIns="0" rtlCol="0" anchor="t">
            <a:normAutofit/>
          </a:bodyPr>
          <a:lstStyle/>
          <a:p>
            <a:pPr marL="0" indent="0" algn="l">
              <a:lnSpc>
                <a:spcPts val="3465"/>
              </a:lnSpc>
              <a:buNone/>
            </a:pPr>
            <a:r>
              <a:rPr lang="en-US" sz="3150" b="1" i="0" dirty="0">
                <a:solidFill>
                  <a:srgbClr val="0B1220"/>
                </a:solidFill>
                <a:latin typeface="IBM Plex Sans" pitchFamily="34" charset="0"/>
                <a:ea typeface="IBM Plex Sans" pitchFamily="34" charset="-122"/>
                <a:cs typeface="IBM Plex Sans" pitchFamily="34" charset="-120"/>
              </a:rPr>
              <a:t>System architecture</a:t>
            </a:r>
            <a:endParaRPr lang="en-US" sz="3150" dirty="0"/>
          </a:p>
        </p:txBody>
      </p:sp>
      <p:sp>
        <p:nvSpPr>
          <p:cNvPr id="4" name="Shape 2"/>
          <p:cNvSpPr/>
          <p:nvPr/>
        </p:nvSpPr>
        <p:spPr>
          <a:xfrm>
            <a:off x="812800" y="1549797"/>
            <a:ext cx="6477000" cy="4318000"/>
          </a:xfrm>
          <a:prstGeom prst="roundRect">
            <a:avLst>
              <a:gd name="adj" fmla="val 2353"/>
            </a:avLst>
          </a:prstGeom>
          <a:solidFill>
            <a:srgbClr val="FFFFFF"/>
          </a:solidFill>
          <a:ln/>
        </p:spPr>
        <p:txBody>
          <a:bodyPr/>
          <a:lstStyle/>
          <a:p>
            <a:endParaRPr lang="en-US"/>
          </a:p>
        </p:txBody>
      </p:sp>
      <p:pic>
        <p:nvPicPr>
          <p:cNvPr id="5" name="Image 0" descr="System architecture diagram showing the Tkinter dashboard, ten backend shell scripts, cron scheduler, system services and data storage folders"/>
          <p:cNvPicPr>
            <a:picLocks noChangeAspect="1"/>
          </p:cNvPicPr>
          <p:nvPr/>
        </p:nvPicPr>
        <p:blipFill>
          <a:blip r:embed="rId3"/>
          <a:srcRect l="-49" r="-49"/>
          <a:stretch/>
        </p:blipFill>
        <p:spPr>
          <a:xfrm>
            <a:off x="819150" y="1556147"/>
            <a:ext cx="6464300" cy="4305300"/>
          </a:xfrm>
          <a:prstGeom prst="roundRect">
            <a:avLst>
              <a:gd name="adj" fmla="val 2212"/>
            </a:avLst>
          </a:prstGeom>
        </p:spPr>
      </p:pic>
      <p:sp>
        <p:nvSpPr>
          <p:cNvPr id="6" name="Shape 3"/>
          <p:cNvSpPr/>
          <p:nvPr/>
        </p:nvSpPr>
        <p:spPr>
          <a:xfrm>
            <a:off x="815975" y="1552972"/>
            <a:ext cx="6470650" cy="4311650"/>
          </a:xfrm>
          <a:prstGeom prst="roundRect">
            <a:avLst>
              <a:gd name="adj" fmla="val 2283"/>
            </a:avLst>
          </a:prstGeom>
          <a:noFill/>
          <a:ln w="6350">
            <a:solidFill>
              <a:srgbClr val="DDE3EE"/>
            </a:solidFill>
            <a:prstDash val="solid"/>
          </a:ln>
        </p:spPr>
        <p:txBody>
          <a:bodyPr/>
          <a:lstStyle/>
          <a:p>
            <a:endParaRPr lang="en-US"/>
          </a:p>
        </p:txBody>
      </p:sp>
      <p:sp>
        <p:nvSpPr>
          <p:cNvPr id="7" name="Text 4"/>
          <p:cNvSpPr/>
          <p:nvPr/>
        </p:nvSpPr>
        <p:spPr>
          <a:xfrm>
            <a:off x="7594600" y="2677517"/>
            <a:ext cx="3898138"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1220"/>
                </a:solidFill>
                <a:latin typeface="IBM Plex Sans" pitchFamily="34" charset="0"/>
                <a:ea typeface="IBM Plex Sans" pitchFamily="34" charset="-122"/>
                <a:cs typeface="IBM Plex Sans" pitchFamily="34" charset="-120"/>
              </a:rPr>
              <a:t>Dashboard</a:t>
            </a:r>
            <a:r>
              <a:rPr lang="en-US" sz="1600" dirty="0">
                <a:solidFill>
                  <a:srgbClr val="3B4A63"/>
                </a:solidFill>
                <a:latin typeface="IBM Plex Sans" pitchFamily="34" charset="0"/>
                <a:ea typeface="IBM Plex Sans" pitchFamily="34" charset="-122"/>
                <a:cs typeface="IBM Plex Sans" pitchFamily="34" charset="-120"/>
              </a:rPr>
              <a:t> takes the menu choice and shows the results.</a:t>
            </a:r>
            <a:endParaRPr lang="en-US" sz="1600" dirty="0"/>
          </a:p>
        </p:txBody>
      </p:sp>
      <p:sp>
        <p:nvSpPr>
          <p:cNvPr id="8" name="Text 5"/>
          <p:cNvSpPr/>
          <p:nvPr/>
        </p:nvSpPr>
        <p:spPr>
          <a:xfrm>
            <a:off x="7594600" y="3424238"/>
            <a:ext cx="3898138"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1220"/>
                </a:solidFill>
                <a:latin typeface="IBM Plex Sans" pitchFamily="34" charset="0"/>
                <a:ea typeface="IBM Plex Sans" pitchFamily="34" charset="-122"/>
                <a:cs typeface="IBM Plex Sans" pitchFamily="34" charset="-120"/>
              </a:rPr>
              <a:t>Scripts</a:t>
            </a:r>
            <a:r>
              <a:rPr lang="en-US" sz="1600" dirty="0">
                <a:solidFill>
                  <a:srgbClr val="3B4A63"/>
                </a:solidFill>
                <a:latin typeface="IBM Plex Sans" pitchFamily="34" charset="0"/>
                <a:ea typeface="IBM Plex Sans" pitchFamily="34" charset="-122"/>
                <a:cs typeface="IBM Plex Sans" pitchFamily="34" charset="-120"/>
              </a:rPr>
              <a:t> do the work, one script per menu option.</a:t>
            </a:r>
            <a:endParaRPr lang="en-US" sz="1600" dirty="0"/>
          </a:p>
        </p:txBody>
      </p:sp>
      <p:sp>
        <p:nvSpPr>
          <p:cNvPr id="9" name="Text 6"/>
          <p:cNvSpPr/>
          <p:nvPr/>
        </p:nvSpPr>
        <p:spPr>
          <a:xfrm>
            <a:off x="7594600" y="4170958"/>
            <a:ext cx="3898138"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1220"/>
                </a:solidFill>
                <a:latin typeface="IBM Plex Sans" pitchFamily="34" charset="0"/>
                <a:ea typeface="IBM Plex Sans" pitchFamily="34" charset="-122"/>
                <a:cs typeface="IBM Plex Sans" pitchFamily="34" charset="-120"/>
              </a:rPr>
              <a:t>Storage</a:t>
            </a:r>
            <a:r>
              <a:rPr lang="en-US" sz="1600" dirty="0">
                <a:solidFill>
                  <a:srgbClr val="3B4A63"/>
                </a:solidFill>
                <a:latin typeface="IBM Plex Sans" pitchFamily="34" charset="0"/>
                <a:ea typeface="IBM Plex Sans" pitchFamily="34" charset="-122"/>
                <a:cs typeface="IBM Plex Sans" pitchFamily="34" charset="-120"/>
              </a:rPr>
              <a:t> keeps source data, full and incremental backups, and logs.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22C7E8"/>
                </a:solidFill>
                <a:latin typeface="JetBrains Mono" pitchFamily="49" charset="0"/>
                <a:ea typeface="JetBrains Mono" pitchFamily="49" charset="-122"/>
                <a:cs typeface="JetBrains Mono" pitchFamily="49" charset="-120"/>
              </a:rPr>
              <a:t>COMPONENTS</a:t>
            </a:r>
            <a:endParaRPr lang="en-US" sz="1400" dirty="0"/>
          </a:p>
        </p:txBody>
      </p:sp>
      <p:sp>
        <p:nvSpPr>
          <p:cNvPr id="3" name="Text 1"/>
          <p:cNvSpPr>
            <a:spLocks noGrp="1"/>
          </p:cNvSpPr>
          <p:nvPr>
            <p:ph type="title"/>
          </p:nvPr>
        </p:nvSpPr>
        <p:spPr>
          <a:xfrm>
            <a:off x="812800" y="1163241"/>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6FA"/>
                </a:solidFill>
                <a:latin typeface="IBM Plex Sans" pitchFamily="34" charset="0"/>
                <a:ea typeface="IBM Plex Sans" pitchFamily="34" charset="-122"/>
                <a:cs typeface="IBM Plex Sans" pitchFamily="34" charset="-120"/>
              </a:rPr>
              <a:t>Five parts, one workflow</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83581"/>
          <a:ext cx="10553700" cy="2564607"/>
        </p:xfrm>
        <a:graphic>
          <a:graphicData uri="http://schemas.openxmlformats.org/drawingml/2006/table">
            <a:tbl>
              <a:tblPr/>
              <a:tblGrid>
                <a:gridCol w="2532888">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5698998">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22C7E8"/>
                          </a:solidFill>
                          <a:latin typeface="IBM Plex Sans" pitchFamily="34" charset="0"/>
                          <a:ea typeface="IBM Plex Sans" pitchFamily="34" charset="-122"/>
                          <a:cs typeface="IBM Plex Sans" pitchFamily="34" charset="-120"/>
                        </a:rPr>
                        <a:t>Component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C556B"/>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C556B"/>
                      </a:solidFill>
                      <a:prstDash val="solid"/>
                      <a:round/>
                      <a:headEnd type="none" w="med" len="med"/>
                      <a:tailEnd type="none" w="med" len="med"/>
                    </a:lnB>
                    <a:solidFill>
                      <a:srgbClr val="1B2744"/>
                    </a:solidFill>
                  </a:tcPr>
                </a:tc>
                <a:tc>
                  <a:txBody>
                    <a:bodyPr/>
                    <a:lstStyle/>
                    <a:p>
                      <a:pPr marL="0" indent="0">
                        <a:lnSpc>
                          <a:spcPts val="1960"/>
                        </a:lnSpc>
                        <a:buNone/>
                      </a:pPr>
                      <a:r>
                        <a:rPr lang="en-US" sz="1400" b="1" dirty="0">
                          <a:solidFill>
                            <a:srgbClr val="22C7E8"/>
                          </a:solidFill>
                          <a:latin typeface="IBM Plex Sans" pitchFamily="34" charset="0"/>
                          <a:ea typeface="IBM Plex Sans" pitchFamily="34" charset="-122"/>
                          <a:cs typeface="IBM Plex Sans" pitchFamily="34" charset="-120"/>
                        </a:rPr>
                        <a:t>Technology</a:t>
                      </a:r>
                      <a:endParaRPr lang="en-US" sz="1400" dirty="0">
                        <a:latin typeface="IBM Plex Sans" charset="0"/>
                        <a:ea typeface="IBM Plex Sans" charset="0"/>
                        <a:cs typeface="IBM Plex Sans" charset="0"/>
                      </a:endParaRPr>
                    </a:p>
                  </a:txBody>
                  <a:tcPr marL="62230" marR="62230" marT="62230" marB="62230">
                    <a:lnL w="12700" cap="flat" cmpd="sng" algn="ctr">
                      <a:solidFill>
                        <a:srgbClr val="4C556B"/>
                      </a:solidFill>
                      <a:prstDash val="solid"/>
                      <a:round/>
                      <a:headEnd type="none" w="med" len="med"/>
                      <a:tailEnd type="none" w="med" len="med"/>
                    </a:lnL>
                    <a:lnR w="12700" cap="flat" cmpd="sng" algn="ctr">
                      <a:solidFill>
                        <a:srgbClr val="4C556B"/>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C556B"/>
                      </a:solidFill>
                      <a:prstDash val="solid"/>
                      <a:round/>
                      <a:headEnd type="none" w="med" len="med"/>
                      <a:tailEnd type="none" w="med" len="med"/>
                    </a:lnB>
                    <a:solidFill>
                      <a:srgbClr val="1B2744"/>
                    </a:solidFill>
                  </a:tcPr>
                </a:tc>
                <a:tc>
                  <a:txBody>
                    <a:bodyPr/>
                    <a:lstStyle/>
                    <a:p>
                      <a:pPr marL="0" indent="0">
                        <a:lnSpc>
                          <a:spcPts val="1960"/>
                        </a:lnSpc>
                        <a:buNone/>
                      </a:pPr>
                      <a:r>
                        <a:rPr lang="en-US" sz="1400" b="1" dirty="0">
                          <a:solidFill>
                            <a:srgbClr val="22C7E8"/>
                          </a:solidFill>
                          <a:latin typeface="IBM Plex Sans" pitchFamily="34" charset="0"/>
                          <a:ea typeface="IBM Plex Sans" pitchFamily="34" charset="-122"/>
                          <a:cs typeface="IBM Plex Sans" pitchFamily="34" charset="-120"/>
                        </a:rPr>
                        <a:t>Role</a:t>
                      </a:r>
                      <a:endParaRPr lang="en-US" sz="1400" dirty="0">
                        <a:latin typeface="IBM Plex Sans" charset="0"/>
                        <a:ea typeface="IBM Plex Sans" charset="0"/>
                        <a:cs typeface="IBM Plex Sans" charset="0"/>
                      </a:endParaRPr>
                    </a:p>
                  </a:txBody>
                  <a:tcPr marL="62230" marR="62230" marT="62230" marB="62230">
                    <a:lnL w="12700" cap="flat" cmpd="sng" algn="ctr">
                      <a:solidFill>
                        <a:srgbClr val="4C556B"/>
                      </a:solidFill>
                      <a:prstDash val="solid"/>
                      <a:round/>
                      <a:headEnd type="none" w="med" len="med"/>
                      <a:tailEnd type="none" w="med" len="med"/>
                    </a:lnL>
                    <a:lnR w="12700" cap="flat" cmpd="sng" algn="ctr">
                      <a:solidFill>
                        <a:srgbClr val="4C556B"/>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C556B"/>
                      </a:solidFill>
                      <a:prstDash val="solid"/>
                      <a:round/>
                      <a:headEnd type="none" w="med" len="med"/>
                      <a:tailEnd type="none" w="med" len="med"/>
                    </a:lnB>
                    <a:solidFill>
                      <a:srgbClr val="1B2744"/>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Dashboard</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C556B"/>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Python + Tkinter</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C556B"/>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Menu 1–10, input validation, status and log display</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C556B"/>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Backend</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Shell scripts</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56"/>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One script per menu option, run by the dashboard</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56"/>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Scheduler</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cron</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Runs incremental backups automatically, writes cron.log</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extLst>
                  <a:ext uri="{0D108BD9-81ED-4DB2-BD59-A6C34878D82A}">
                    <a16:rowId xmlns:a16="http://schemas.microsoft.com/office/drawing/2014/main" val="10003"/>
                  </a:ext>
                </a:extLst>
              </a:tr>
              <a:tr h="634802">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System services</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tar, sha256sum, systemctl</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56"/>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Backup and restore, checksum checks, service check</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56"/>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Storage</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Folders on disk</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Source data, full and incremental backups, logs</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0A7490"/>
                </a:solidFill>
                <a:latin typeface="JetBrains Mono" pitchFamily="49" charset="0"/>
                <a:ea typeface="JetBrains Mono" pitchFamily="49" charset="-122"/>
                <a:cs typeface="JetBrains Mono" pitchFamily="49" charset="-120"/>
              </a:rPr>
              <a:t>DATA STORAGE</a:t>
            </a:r>
            <a:endParaRPr lang="en-US" sz="1400" dirty="0"/>
          </a:p>
        </p:txBody>
      </p:sp>
      <p:sp>
        <p:nvSpPr>
          <p:cNvPr id="3" name="Text 1"/>
          <p:cNvSpPr>
            <a:spLocks noGrp="1"/>
          </p:cNvSpPr>
          <p:nvPr>
            <p:ph type="title"/>
          </p:nvPr>
        </p:nvSpPr>
        <p:spPr>
          <a:xfrm>
            <a:off x="812800" y="1163241"/>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220"/>
                </a:solidFill>
                <a:latin typeface="IBM Plex Sans" pitchFamily="34" charset="0"/>
                <a:ea typeface="IBM Plex Sans" pitchFamily="34" charset="-122"/>
                <a:cs typeface="IBM Plex Sans" pitchFamily="34" charset="-120"/>
              </a:rPr>
              <a:t>Where everything lives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83581"/>
          <a:ext cx="10553700" cy="2315766"/>
        </p:xfrm>
        <a:graphic>
          <a:graphicData uri="http://schemas.openxmlformats.org/drawingml/2006/table">
            <a:tbl>
              <a:tblPr/>
              <a:tblGrid>
                <a:gridCol w="2743962">
                  <a:extLst>
                    <a:ext uri="{9D8B030D-6E8A-4147-A177-3AD203B41FA5}">
                      <a16:colId xmlns:a16="http://schemas.microsoft.com/office/drawing/2014/main" val="20000"/>
                    </a:ext>
                  </a:extLst>
                </a:gridCol>
                <a:gridCol w="4010406">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0A7490"/>
                          </a:solidFill>
                          <a:latin typeface="IBM Plex Sans" pitchFamily="34" charset="0"/>
                          <a:ea typeface="IBM Plex Sans" pitchFamily="34" charset="-122"/>
                          <a:cs typeface="IBM Plex Sans" pitchFamily="34" charset="-120"/>
                        </a:rPr>
                        <a:t>Folder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B5BAC2"/>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B5BAC2"/>
                      </a:solidFill>
                      <a:prstDash val="solid"/>
                      <a:round/>
                      <a:headEnd type="none" w="med" len="med"/>
                      <a:tailEnd type="none" w="med" len="med"/>
                    </a:lnB>
                    <a:solidFill>
                      <a:srgbClr val="E3E9F3"/>
                    </a:solidFill>
                  </a:tcPr>
                </a:tc>
                <a:tc>
                  <a:txBody>
                    <a:bodyPr/>
                    <a:lstStyle/>
                    <a:p>
                      <a:pPr marL="0" indent="0">
                        <a:lnSpc>
                          <a:spcPts val="1960"/>
                        </a:lnSpc>
                        <a:buNone/>
                      </a:pPr>
                      <a:r>
                        <a:rPr lang="en-US" sz="1400" b="1" dirty="0">
                          <a:solidFill>
                            <a:srgbClr val="0A7490"/>
                          </a:solidFill>
                          <a:latin typeface="IBM Plex Sans" pitchFamily="34" charset="0"/>
                          <a:ea typeface="IBM Plex Sans" pitchFamily="34" charset="-122"/>
                          <a:cs typeface="IBM Plex Sans" pitchFamily="34" charset="-120"/>
                        </a:rPr>
                        <a:t>Path</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AC2"/>
                      </a:solidFill>
                      <a:prstDash val="solid"/>
                      <a:round/>
                      <a:headEnd type="none" w="med" len="med"/>
                      <a:tailEnd type="none" w="med" len="med"/>
                    </a:lnL>
                    <a:lnR w="12700" cap="flat" cmpd="sng" algn="ctr">
                      <a:solidFill>
                        <a:srgbClr val="B5BAC2"/>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B5BAC2"/>
                      </a:solidFill>
                      <a:prstDash val="solid"/>
                      <a:round/>
                      <a:headEnd type="none" w="med" len="med"/>
                      <a:tailEnd type="none" w="med" len="med"/>
                    </a:lnB>
                    <a:solidFill>
                      <a:srgbClr val="E3E9F3"/>
                    </a:solidFill>
                  </a:tcPr>
                </a:tc>
                <a:tc>
                  <a:txBody>
                    <a:bodyPr/>
                    <a:lstStyle/>
                    <a:p>
                      <a:pPr marL="0" indent="0">
                        <a:lnSpc>
                          <a:spcPts val="1960"/>
                        </a:lnSpc>
                        <a:buNone/>
                      </a:pPr>
                      <a:r>
                        <a:rPr lang="en-US" sz="1400" b="1" dirty="0">
                          <a:solidFill>
                            <a:srgbClr val="0A7490"/>
                          </a:solidFill>
                          <a:latin typeface="IBM Plex Sans" pitchFamily="34" charset="0"/>
                          <a:ea typeface="IBM Plex Sans" pitchFamily="34" charset="-122"/>
                          <a:cs typeface="IBM Plex Sans" pitchFamily="34" charset="-120"/>
                        </a:rPr>
                        <a:t>Contents</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AC2"/>
                      </a:solidFill>
                      <a:prstDash val="solid"/>
                      <a:round/>
                      <a:headEnd type="none" w="med" len="med"/>
                      <a:tailEnd type="none" w="med" len="med"/>
                    </a:lnL>
                    <a:lnR w="12700" cap="flat" cmpd="sng" algn="ctr">
                      <a:solidFill>
                        <a:srgbClr val="B5BAC2"/>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B5BAC2"/>
                      </a:solidFill>
                      <a:prstDash val="solid"/>
                      <a:round/>
                      <a:headEnd type="none" w="med" len="med"/>
                      <a:tailEnd type="none" w="med" len="med"/>
                    </a:lnB>
                    <a:solidFill>
                      <a:srgbClr val="E3E9F3"/>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Source data</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AC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~/project_data</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AC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Files to back up</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AC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Full backups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9"/>
                      </a:solidFill>
                      <a:prstDash val="solid"/>
                      <a:round/>
                      <a:headEnd type="none" w="med" len="med"/>
                      <a:tailEnd type="none" w="med" len="med"/>
                    </a:lnB>
                    <a:solidFill>
                      <a:srgbClr val="F8F9FC"/>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~/backup_system/full/</a:t>
                      </a:r>
                      <a:endParaRPr lang="en-US" sz="1400" dirty="0">
                        <a:latin typeface="IBM Plex Sans" charset="0"/>
                        <a:ea typeface="IBM Plex Sans" charset="0"/>
                        <a:cs typeface="IBM Plex Sans" charset="0"/>
                      </a:endParaRPr>
                    </a:p>
                  </a:txBody>
                  <a:tcPr marL="62230" marR="62230" marT="62230" marB="62230">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9"/>
                      </a:solidFill>
                      <a:prstDash val="solid"/>
                      <a:round/>
                      <a:headEnd type="none" w="med" len="med"/>
                      <a:tailEnd type="none" w="med" len="med"/>
                    </a:lnB>
                    <a:solidFill>
                      <a:srgbClr val="F8F9FC"/>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full_*.tar.gz</a:t>
                      </a:r>
                      <a:endParaRPr lang="en-US" sz="1400" dirty="0">
                        <a:latin typeface="IBM Plex Sans" charset="0"/>
                        <a:ea typeface="IBM Plex Sans" charset="0"/>
                        <a:cs typeface="IBM Plex Sans" charset="0"/>
                      </a:endParaRPr>
                    </a:p>
                  </a:txBody>
                  <a:tcPr marL="62230" marR="62230" marT="62230" marB="62230">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9"/>
                      </a:solidFill>
                      <a:prstDash val="solid"/>
                      <a:round/>
                      <a:headEnd type="none" w="med" len="med"/>
                      <a:tailEnd type="none" w="med" len="med"/>
                    </a:lnB>
                    <a:solidFill>
                      <a:srgbClr val="F8F9FC"/>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Incremental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~/backup_system/incr/</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incr_*.tar.gz</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Logs</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9"/>
                      </a:solidFill>
                      <a:prstDash val="solid"/>
                      <a:round/>
                      <a:headEnd type="none" w="med" len="med"/>
                      <a:tailEnd type="none" w="med" len="med"/>
                    </a:lnB>
                    <a:solidFill>
                      <a:srgbClr val="F8F9FC"/>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~/backup_system/logs/</a:t>
                      </a:r>
                      <a:endParaRPr lang="en-US" sz="1400" dirty="0">
                        <a:latin typeface="IBM Plex Sans" charset="0"/>
                        <a:ea typeface="IBM Plex Sans" charset="0"/>
                        <a:cs typeface="IBM Plex Sans" charset="0"/>
                      </a:endParaRPr>
                    </a:p>
                  </a:txBody>
                  <a:tcPr marL="62230" marR="62230" marT="62230" marB="62230">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9"/>
                      </a:solidFill>
                      <a:prstDash val="solid"/>
                      <a:round/>
                      <a:headEnd type="none" w="med" len="med"/>
                      <a:tailEnd type="none" w="med" len="med"/>
                    </a:lnB>
                    <a:solidFill>
                      <a:srgbClr val="F8F9FC"/>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backup.log, cron.log</a:t>
                      </a:r>
                      <a:endParaRPr lang="en-US" sz="1400" dirty="0">
                        <a:latin typeface="IBM Plex Sans" charset="0"/>
                        <a:ea typeface="IBM Plex Sans" charset="0"/>
                        <a:cs typeface="IBM Plex Sans" charset="0"/>
                      </a:endParaRPr>
                    </a:p>
                  </a:txBody>
                  <a:tcPr marL="62230" marR="62230" marT="62230" marB="62230">
                    <a:lnL w="12700" cap="flat" cmpd="sng" algn="ctr">
                      <a:solidFill>
                        <a:srgbClr val="C6C7C9"/>
                      </a:solidFill>
                      <a:prstDash val="solid"/>
                      <a:round/>
                      <a:headEnd type="none" w="med" len="med"/>
                      <a:tailEnd type="none" w="med" len="med"/>
                    </a:lnL>
                    <a:lnR w="12700" cap="flat" cmpd="sng" algn="ctr">
                      <a:solidFill>
                        <a:srgbClr val="C6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9"/>
                      </a:solidFill>
                      <a:prstDash val="solid"/>
                      <a:round/>
                      <a:headEnd type="none" w="med" len="med"/>
                      <a:tailEnd type="none" w="med" len="med"/>
                    </a:lnB>
                    <a:solidFill>
                      <a:srgbClr val="F8F9FC"/>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Restored data</a:t>
                      </a:r>
                      <a:endParaRPr lang="en-US" sz="1400" dirty="0">
                        <a:latin typeface="IBM Plex Sans" charset="0"/>
                        <a:ea typeface="IBM Plex Sans" charset="0"/>
                        <a:cs typeface="IBM Plex Sans" charset="0"/>
                      </a:endParaRPr>
                    </a:p>
                  </a:txBody>
                  <a:tcPr marL="62230" marR="62230" marT="62230" marB="62230">
                    <a:lnL w="12700" cap="flat" cmpd="sng" algn="ctr">
                      <a:solidFill>
                        <a:srgbClr val="C2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~/restored/project_data/</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Output of Restore Data (option 8)</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22C7E8"/>
                </a:solidFill>
                <a:latin typeface="JetBrains Mono" pitchFamily="49" charset="0"/>
                <a:ea typeface="JetBrains Mono" pitchFamily="49" charset="-122"/>
                <a:cs typeface="JetBrains Mono" pitchFamily="49" charset="-120"/>
              </a:rPr>
              <a:t>BACKUP TYPES</a:t>
            </a:r>
            <a:endParaRPr lang="en-US" sz="1400" dirty="0"/>
          </a:p>
        </p:txBody>
      </p:sp>
      <p:sp>
        <p:nvSpPr>
          <p:cNvPr id="3" name="Text 1"/>
          <p:cNvSpPr>
            <a:spLocks noGrp="1"/>
          </p:cNvSpPr>
          <p:nvPr>
            <p:ph type="title"/>
          </p:nvPr>
        </p:nvSpPr>
        <p:spPr>
          <a:xfrm>
            <a:off x="812800" y="1163241"/>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6FA"/>
                </a:solidFill>
                <a:latin typeface="IBM Plex Sans" pitchFamily="34" charset="0"/>
                <a:ea typeface="IBM Plex Sans" pitchFamily="34" charset="-122"/>
                <a:cs typeface="IBM Plex Sans" pitchFamily="34" charset="-120"/>
              </a:rPr>
              <a:t>Full and incremental backups</a:t>
            </a:r>
            <a:endParaRPr lang="en-US" sz="3600" dirty="0"/>
          </a:p>
        </p:txBody>
      </p:sp>
      <p:sp>
        <p:nvSpPr>
          <p:cNvPr id="4" name="Shape 2"/>
          <p:cNvSpPr/>
          <p:nvPr/>
        </p:nvSpPr>
        <p:spPr>
          <a:xfrm>
            <a:off x="815975" y="1974056"/>
            <a:ext cx="5175250" cy="2571651"/>
          </a:xfrm>
          <a:prstGeom prst="roundRect">
            <a:avLst>
              <a:gd name="adj" fmla="val 3827"/>
            </a:avLst>
          </a:prstGeom>
          <a:solidFill>
            <a:srgbClr val="131C31"/>
          </a:solidFill>
          <a:ln w="6350">
            <a:solidFill>
              <a:srgbClr val="22304D"/>
            </a:solidFill>
            <a:prstDash val="solid"/>
          </a:ln>
        </p:spPr>
        <p:txBody>
          <a:bodyPr/>
          <a:lstStyle/>
          <a:p>
            <a:endParaRPr lang="en-US"/>
          </a:p>
        </p:txBody>
      </p:sp>
      <p:sp>
        <p:nvSpPr>
          <p:cNvPr id="5" name="Text 3"/>
          <p:cNvSpPr/>
          <p:nvPr/>
        </p:nvSpPr>
        <p:spPr>
          <a:xfrm>
            <a:off x="1073150" y="2231231"/>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78BFA"/>
                </a:solidFill>
                <a:latin typeface="JetBrains Mono" pitchFamily="49" charset="0"/>
                <a:ea typeface="JetBrains Mono" pitchFamily="49" charset="-122"/>
                <a:cs typeface="JetBrains Mono" pitchFamily="49" charset="-120"/>
              </a:rPr>
              <a:t>Option 1</a:t>
            </a:r>
            <a:endParaRPr lang="en-US" sz="1400" dirty="0"/>
          </a:p>
        </p:txBody>
      </p:sp>
      <p:sp>
        <p:nvSpPr>
          <p:cNvPr id="6" name="Text 4"/>
          <p:cNvSpPr/>
          <p:nvPr/>
        </p:nvSpPr>
        <p:spPr>
          <a:xfrm>
            <a:off x="1073150" y="2607072"/>
            <a:ext cx="4800727"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6FA"/>
                </a:solidFill>
                <a:latin typeface="IBM Plex Sans" pitchFamily="34" charset="0"/>
                <a:ea typeface="IBM Plex Sans" pitchFamily="34" charset="-122"/>
                <a:cs typeface="IBM Plex Sans" pitchFamily="34" charset="-120"/>
              </a:rPr>
              <a:t>Full backup</a:t>
            </a:r>
            <a:endParaRPr lang="en-US" sz="2200" dirty="0"/>
          </a:p>
        </p:txBody>
      </p:sp>
      <p:sp>
        <p:nvSpPr>
          <p:cNvPr id="7" name="Text 5"/>
          <p:cNvSpPr/>
          <p:nvPr/>
        </p:nvSpPr>
        <p:spPr>
          <a:xfrm>
            <a:off x="1130808" y="3069332"/>
            <a:ext cx="4735449" cy="1244600"/>
          </a:xfrm>
          <a:prstGeom prst="rect">
            <a:avLst/>
          </a:prstGeom>
          <a:noFill/>
          <a:ln/>
        </p:spPr>
        <p:txBody>
          <a:bodyPr wrap="square" lIns="0" tIns="0" rIns="0" bIns="0" rtlCol="0" anchor="t">
            <a:normAutofit/>
          </a:bodyPr>
          <a:lstStyle/>
          <a:p>
            <a:pPr marL="196342" indent="-196342" algn="l">
              <a:lnSpc>
                <a:spcPts val="2400"/>
              </a:lnSpc>
              <a:buSzPct val="100000"/>
              <a:buChar char="•"/>
            </a:pPr>
            <a:r>
              <a:rPr lang="en-US" sz="1600" dirty="0">
                <a:solidFill>
                  <a:srgbClr val="9FB0C8"/>
                </a:solidFill>
                <a:latin typeface="IBM Plex Sans" pitchFamily="34" charset="0"/>
                <a:ea typeface="IBM Plex Sans" pitchFamily="34" charset="-122"/>
                <a:cs typeface="IBM Plex Sans" pitchFamily="34" charset="-120"/>
              </a:rPr>
              <a:t>Archives all of the source data into one full_*.tar.gz file</a:t>
            </a:r>
            <a:endParaRPr lang="en-US" sz="1600" dirty="0"/>
          </a:p>
          <a:p>
            <a:pPr marL="196342" indent="-196342" algn="l">
              <a:lnSpc>
                <a:spcPts val="2400"/>
              </a:lnSpc>
              <a:buSzPct val="100000"/>
              <a:buChar char="•"/>
            </a:pPr>
            <a:r>
              <a:rPr lang="en-US" sz="1600" dirty="0">
                <a:solidFill>
                  <a:srgbClr val="9FB0C8"/>
                </a:solidFill>
                <a:latin typeface="IBM Plex Sans" pitchFamily="34" charset="0"/>
                <a:ea typeface="IBM Plex Sans" pitchFamily="34" charset="-122"/>
                <a:cs typeface="IBM Plex Sans" pitchFamily="34" charset="-120"/>
              </a:rPr>
              <a:t>A complete copy, simplest to restore</a:t>
            </a:r>
            <a:endParaRPr lang="en-US" sz="1600" dirty="0"/>
          </a:p>
          <a:p>
            <a:pPr marL="196342" indent="-196342" algn="l">
              <a:lnSpc>
                <a:spcPts val="2400"/>
              </a:lnSpc>
              <a:buSzPct val="100000"/>
              <a:buChar char="•"/>
            </a:pPr>
            <a:r>
              <a:rPr lang="en-US" sz="1600" dirty="0">
                <a:solidFill>
                  <a:srgbClr val="9FB0C8"/>
                </a:solidFill>
                <a:latin typeface="IBM Plex Sans" pitchFamily="34" charset="0"/>
                <a:ea typeface="IBM Plex Sans" pitchFamily="34" charset="-122"/>
                <a:cs typeface="IBM Plex Sans" pitchFamily="34" charset="-120"/>
              </a:rPr>
              <a:t>Larger and slower than an incremental run</a:t>
            </a:r>
            <a:endParaRPr lang="en-US" sz="1600" dirty="0"/>
          </a:p>
        </p:txBody>
      </p:sp>
      <p:sp>
        <p:nvSpPr>
          <p:cNvPr id="8" name="Shape 6"/>
          <p:cNvSpPr/>
          <p:nvPr/>
        </p:nvSpPr>
        <p:spPr>
          <a:xfrm>
            <a:off x="6200775" y="1974056"/>
            <a:ext cx="5175250" cy="2571651"/>
          </a:xfrm>
          <a:prstGeom prst="roundRect">
            <a:avLst>
              <a:gd name="adj" fmla="val 3827"/>
            </a:avLst>
          </a:prstGeom>
          <a:solidFill>
            <a:srgbClr val="131C31"/>
          </a:solidFill>
          <a:ln w="6350">
            <a:solidFill>
              <a:srgbClr val="22304D"/>
            </a:solidFill>
            <a:prstDash val="solid"/>
          </a:ln>
        </p:spPr>
        <p:txBody>
          <a:bodyPr/>
          <a:lstStyle/>
          <a:p>
            <a:endParaRPr lang="en-US"/>
          </a:p>
        </p:txBody>
      </p:sp>
      <p:sp>
        <p:nvSpPr>
          <p:cNvPr id="9" name="Text 7"/>
          <p:cNvSpPr/>
          <p:nvPr/>
        </p:nvSpPr>
        <p:spPr>
          <a:xfrm>
            <a:off x="6457950" y="2231231"/>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2C7E8"/>
                </a:solidFill>
                <a:latin typeface="JetBrains Mono" pitchFamily="49" charset="0"/>
                <a:ea typeface="JetBrains Mono" pitchFamily="49" charset="-122"/>
                <a:cs typeface="JetBrains Mono" pitchFamily="49" charset="-120"/>
              </a:rPr>
              <a:t>Option 2</a:t>
            </a:r>
            <a:endParaRPr lang="en-US" sz="1400" dirty="0"/>
          </a:p>
        </p:txBody>
      </p:sp>
      <p:sp>
        <p:nvSpPr>
          <p:cNvPr id="10" name="Text 8"/>
          <p:cNvSpPr/>
          <p:nvPr/>
        </p:nvSpPr>
        <p:spPr>
          <a:xfrm>
            <a:off x="6457950" y="2607072"/>
            <a:ext cx="4800727"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6FA"/>
                </a:solidFill>
                <a:latin typeface="IBM Plex Sans" pitchFamily="34" charset="0"/>
                <a:ea typeface="IBM Plex Sans" pitchFamily="34" charset="-122"/>
                <a:cs typeface="IBM Plex Sans" pitchFamily="34" charset="-120"/>
              </a:rPr>
              <a:t>Incremental backup</a:t>
            </a:r>
            <a:endParaRPr lang="en-US" sz="2200" dirty="0"/>
          </a:p>
        </p:txBody>
      </p:sp>
      <p:sp>
        <p:nvSpPr>
          <p:cNvPr id="11" name="Text 9"/>
          <p:cNvSpPr/>
          <p:nvPr/>
        </p:nvSpPr>
        <p:spPr>
          <a:xfrm>
            <a:off x="6515608" y="3069332"/>
            <a:ext cx="4735449" cy="1244600"/>
          </a:xfrm>
          <a:prstGeom prst="rect">
            <a:avLst/>
          </a:prstGeom>
          <a:noFill/>
          <a:ln/>
        </p:spPr>
        <p:txBody>
          <a:bodyPr wrap="square" lIns="0" tIns="0" rIns="0" bIns="0" rtlCol="0" anchor="t">
            <a:normAutofit/>
          </a:bodyPr>
          <a:lstStyle/>
          <a:p>
            <a:pPr marL="196342" indent="-196342" algn="l">
              <a:lnSpc>
                <a:spcPts val="2400"/>
              </a:lnSpc>
              <a:buSzPct val="100000"/>
              <a:buChar char="•"/>
            </a:pPr>
            <a:r>
              <a:rPr lang="en-US" sz="1600" dirty="0">
                <a:solidFill>
                  <a:srgbClr val="9FB0C8"/>
                </a:solidFill>
                <a:latin typeface="IBM Plex Sans" pitchFamily="34" charset="0"/>
                <a:ea typeface="IBM Plex Sans" pitchFamily="34" charset="-122"/>
                <a:cs typeface="IBM Plex Sans" pitchFamily="34" charset="-120"/>
              </a:rPr>
              <a:t>Archives only what changed since the previous backup into incr_*.tar.gz</a:t>
            </a:r>
            <a:endParaRPr lang="en-US" sz="1600" dirty="0"/>
          </a:p>
          <a:p>
            <a:pPr marL="196342" indent="-196342" algn="l">
              <a:lnSpc>
                <a:spcPts val="2400"/>
              </a:lnSpc>
              <a:buSzPct val="100000"/>
              <a:buChar char="•"/>
            </a:pPr>
            <a:r>
              <a:rPr lang="en-US" sz="1600" dirty="0">
                <a:solidFill>
                  <a:srgbClr val="9FB0C8"/>
                </a:solidFill>
                <a:latin typeface="IBM Plex Sans" pitchFamily="34" charset="0"/>
                <a:ea typeface="IBM Plex Sans" pitchFamily="34" charset="-122"/>
                <a:cs typeface="IBM Plex Sans" pitchFamily="34" charset="-120"/>
              </a:rPr>
              <a:t>Smaller and faster, saves disk space</a:t>
            </a:r>
            <a:endParaRPr lang="en-US" sz="1600" dirty="0"/>
          </a:p>
          <a:p>
            <a:pPr marL="196342" indent="-196342" algn="l">
              <a:lnSpc>
                <a:spcPts val="2400"/>
              </a:lnSpc>
              <a:buSzPct val="100000"/>
              <a:buChar char="•"/>
            </a:pPr>
            <a:r>
              <a:rPr lang="en-US" sz="1600" dirty="0">
                <a:solidFill>
                  <a:srgbClr val="9FB0C8"/>
                </a:solidFill>
                <a:latin typeface="IBM Plex Sans" pitchFamily="34" charset="0"/>
                <a:ea typeface="IBM Plex Sans" pitchFamily="34" charset="-122"/>
                <a:cs typeface="IBM Plex Sans" pitchFamily="34" charset="-120"/>
              </a:rPr>
              <a:t>The type that cron runs automatically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0A7490"/>
                </a:solidFill>
                <a:latin typeface="JetBrains Mono" pitchFamily="49" charset="0"/>
                <a:ea typeface="JetBrains Mono" pitchFamily="49" charset="-122"/>
                <a:cs typeface="JetBrains Mono" pitchFamily="49" charset="-120"/>
              </a:rPr>
              <a:t>SCHEDULING</a:t>
            </a:r>
            <a:endParaRPr lang="en-US" sz="1400" dirty="0"/>
          </a:p>
        </p:txBody>
      </p:sp>
      <p:sp>
        <p:nvSpPr>
          <p:cNvPr id="3" name="Text 1"/>
          <p:cNvSpPr>
            <a:spLocks noGrp="1"/>
          </p:cNvSpPr>
          <p:nvPr>
            <p:ph type="title"/>
          </p:nvPr>
        </p:nvSpPr>
        <p:spPr>
          <a:xfrm>
            <a:off x="812800" y="1163241"/>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220"/>
                </a:solidFill>
                <a:latin typeface="IBM Plex Sans" pitchFamily="34" charset="0"/>
                <a:ea typeface="IBM Plex Sans" pitchFamily="34" charset="-122"/>
                <a:cs typeface="IBM Plex Sans" pitchFamily="34" charset="-120"/>
              </a:rPr>
              <a:t>Automated backups with cron</a:t>
            </a:r>
            <a:endParaRPr lang="en-US" sz="3600" dirty="0"/>
          </a:p>
        </p:txBody>
      </p:sp>
      <p:sp>
        <p:nvSpPr>
          <p:cNvPr id="4" name="Shape 2"/>
          <p:cNvSpPr/>
          <p:nvPr/>
        </p:nvSpPr>
        <p:spPr>
          <a:xfrm>
            <a:off x="815975" y="1974056"/>
            <a:ext cx="3041650" cy="1987153"/>
          </a:xfrm>
          <a:prstGeom prst="roundRect">
            <a:avLst>
              <a:gd name="adj" fmla="val 4953"/>
            </a:avLst>
          </a:prstGeom>
          <a:solidFill>
            <a:srgbClr val="FFFFFF"/>
          </a:solidFill>
          <a:ln w="6350">
            <a:solidFill>
              <a:srgbClr val="DDE3EE"/>
            </a:solidFill>
            <a:prstDash val="solid"/>
          </a:ln>
        </p:spPr>
        <p:txBody>
          <a:bodyPr/>
          <a:lstStyle/>
          <a:p>
            <a:endParaRPr lang="en-US"/>
          </a:p>
        </p:txBody>
      </p:sp>
      <p:sp>
        <p:nvSpPr>
          <p:cNvPr id="5" name="Text 3"/>
          <p:cNvSpPr/>
          <p:nvPr/>
        </p:nvSpPr>
        <p:spPr>
          <a:xfrm>
            <a:off x="1073150" y="2231231"/>
            <a:ext cx="260311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A7490"/>
                </a:solidFill>
                <a:latin typeface="JetBrains Mono" pitchFamily="49" charset="0"/>
                <a:ea typeface="JetBrains Mono" pitchFamily="49" charset="-122"/>
                <a:cs typeface="JetBrains Mono" pitchFamily="49" charset="-120"/>
              </a:rPr>
              <a:t>01</a:t>
            </a:r>
            <a:endParaRPr lang="en-US" sz="1400" dirty="0"/>
          </a:p>
        </p:txBody>
      </p:sp>
      <p:sp>
        <p:nvSpPr>
          <p:cNvPr id="6" name="Text 4"/>
          <p:cNvSpPr/>
          <p:nvPr/>
        </p:nvSpPr>
        <p:spPr>
          <a:xfrm>
            <a:off x="1073150" y="2581672"/>
            <a:ext cx="260311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220"/>
                </a:solidFill>
                <a:latin typeface="IBM Plex Sans" pitchFamily="34" charset="0"/>
                <a:ea typeface="IBM Plex Sans" pitchFamily="34" charset="-122"/>
                <a:cs typeface="IBM Plex Sans" pitchFamily="34" charset="-120"/>
              </a:rPr>
              <a:t>Cron triggers</a:t>
            </a:r>
            <a:endParaRPr lang="en-US" sz="1800" dirty="0"/>
          </a:p>
        </p:txBody>
      </p:sp>
      <p:sp>
        <p:nvSpPr>
          <p:cNvPr id="7" name="Text 5"/>
          <p:cNvSpPr/>
          <p:nvPr/>
        </p:nvSpPr>
        <p:spPr>
          <a:xfrm>
            <a:off x="1073150" y="2957513"/>
            <a:ext cx="2603119"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A63"/>
                </a:solidFill>
                <a:latin typeface="IBM Plex Sans" pitchFamily="34" charset="0"/>
                <a:ea typeface="IBM Plex Sans" pitchFamily="34" charset="-122"/>
                <a:cs typeface="IBM Plex Sans" pitchFamily="34" charset="-120"/>
              </a:rPr>
              <a:t>The scheduler fires the job at its set time with no one present.</a:t>
            </a:r>
            <a:endParaRPr lang="en-US" sz="1400" dirty="0"/>
          </a:p>
        </p:txBody>
      </p:sp>
      <p:pic>
        <p:nvPicPr>
          <p:cNvPr id="8" name="Image 0" descr="arrow-right"/>
          <p:cNvPicPr>
            <a:picLocks noChangeAspect="1"/>
          </p:cNvPicPr>
          <p:nvPr/>
        </p:nvPicPr>
        <p:blipFill>
          <a:blip r:embed="rId3"/>
          <a:srcRect/>
          <a:stretch/>
        </p:blipFill>
        <p:spPr>
          <a:xfrm>
            <a:off x="4013200" y="2840633"/>
            <a:ext cx="406400" cy="254000"/>
          </a:xfrm>
          <a:prstGeom prst="rect">
            <a:avLst/>
          </a:prstGeom>
        </p:spPr>
      </p:pic>
      <p:sp>
        <p:nvSpPr>
          <p:cNvPr id="9" name="Shape 6"/>
          <p:cNvSpPr/>
          <p:nvPr/>
        </p:nvSpPr>
        <p:spPr>
          <a:xfrm>
            <a:off x="4575175" y="2098477"/>
            <a:ext cx="3041650" cy="1738313"/>
          </a:xfrm>
          <a:prstGeom prst="roundRect">
            <a:avLst>
              <a:gd name="adj" fmla="val 5662"/>
            </a:avLst>
          </a:prstGeom>
          <a:solidFill>
            <a:srgbClr val="FFFFFF"/>
          </a:solidFill>
          <a:ln w="6350">
            <a:solidFill>
              <a:srgbClr val="DDE3EE"/>
            </a:solidFill>
            <a:prstDash val="solid"/>
          </a:ln>
        </p:spPr>
        <p:txBody>
          <a:bodyPr/>
          <a:lstStyle/>
          <a:p>
            <a:endParaRPr lang="en-US"/>
          </a:p>
        </p:txBody>
      </p:sp>
      <p:sp>
        <p:nvSpPr>
          <p:cNvPr id="10" name="Text 7"/>
          <p:cNvSpPr/>
          <p:nvPr/>
        </p:nvSpPr>
        <p:spPr>
          <a:xfrm>
            <a:off x="4832350" y="2355652"/>
            <a:ext cx="260311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A7490"/>
                </a:solidFill>
                <a:latin typeface="JetBrains Mono" pitchFamily="49" charset="0"/>
                <a:ea typeface="JetBrains Mono" pitchFamily="49" charset="-122"/>
                <a:cs typeface="JetBrains Mono" pitchFamily="49" charset="-120"/>
              </a:rPr>
              <a:t>02</a:t>
            </a:r>
            <a:endParaRPr lang="en-US" sz="1400" dirty="0"/>
          </a:p>
        </p:txBody>
      </p:sp>
      <p:sp>
        <p:nvSpPr>
          <p:cNvPr id="11" name="Text 8"/>
          <p:cNvSpPr/>
          <p:nvPr/>
        </p:nvSpPr>
        <p:spPr>
          <a:xfrm>
            <a:off x="4832350" y="2706092"/>
            <a:ext cx="260311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220"/>
                </a:solidFill>
                <a:latin typeface="IBM Plex Sans" pitchFamily="34" charset="0"/>
                <a:ea typeface="IBM Plex Sans" pitchFamily="34" charset="-122"/>
                <a:cs typeface="IBM Plex Sans" pitchFamily="34" charset="-120"/>
              </a:rPr>
              <a:t>Backup runs</a:t>
            </a:r>
            <a:endParaRPr lang="en-US" sz="1800" dirty="0"/>
          </a:p>
        </p:txBody>
      </p:sp>
      <p:sp>
        <p:nvSpPr>
          <p:cNvPr id="12" name="Text 9"/>
          <p:cNvSpPr/>
          <p:nvPr/>
        </p:nvSpPr>
        <p:spPr>
          <a:xfrm>
            <a:off x="4832350" y="3081933"/>
            <a:ext cx="2603119"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A63"/>
                </a:solidFill>
                <a:latin typeface="IBM Plex Sans" pitchFamily="34" charset="0"/>
                <a:ea typeface="IBM Plex Sans" pitchFamily="34" charset="-122"/>
                <a:cs typeface="IBM Plex Sans" pitchFamily="34" charset="-120"/>
              </a:rPr>
              <a:t>An incremental backup is saved to the incr folder.</a:t>
            </a:r>
            <a:endParaRPr lang="en-US" sz="1400" dirty="0"/>
          </a:p>
        </p:txBody>
      </p:sp>
      <p:pic>
        <p:nvPicPr>
          <p:cNvPr id="13" name="Image 1" descr="arrow-right"/>
          <p:cNvPicPr>
            <a:picLocks noChangeAspect="1"/>
          </p:cNvPicPr>
          <p:nvPr/>
        </p:nvPicPr>
        <p:blipFill>
          <a:blip r:embed="rId3"/>
          <a:srcRect/>
          <a:stretch/>
        </p:blipFill>
        <p:spPr>
          <a:xfrm>
            <a:off x="7772400" y="2840633"/>
            <a:ext cx="406400" cy="254000"/>
          </a:xfrm>
          <a:prstGeom prst="rect">
            <a:avLst/>
          </a:prstGeom>
        </p:spPr>
      </p:pic>
      <p:sp>
        <p:nvSpPr>
          <p:cNvPr id="14" name="Shape 10"/>
          <p:cNvSpPr/>
          <p:nvPr/>
        </p:nvSpPr>
        <p:spPr>
          <a:xfrm>
            <a:off x="8334375" y="2098477"/>
            <a:ext cx="3041650" cy="1738313"/>
          </a:xfrm>
          <a:prstGeom prst="roundRect">
            <a:avLst>
              <a:gd name="adj" fmla="val 5662"/>
            </a:avLst>
          </a:prstGeom>
          <a:solidFill>
            <a:srgbClr val="FFFFFF"/>
          </a:solidFill>
          <a:ln w="6350">
            <a:solidFill>
              <a:srgbClr val="DDE3EE"/>
            </a:solidFill>
            <a:prstDash val="solid"/>
          </a:ln>
        </p:spPr>
        <p:txBody>
          <a:bodyPr/>
          <a:lstStyle/>
          <a:p>
            <a:endParaRPr lang="en-US"/>
          </a:p>
        </p:txBody>
      </p:sp>
      <p:sp>
        <p:nvSpPr>
          <p:cNvPr id="15" name="Text 11"/>
          <p:cNvSpPr/>
          <p:nvPr/>
        </p:nvSpPr>
        <p:spPr>
          <a:xfrm>
            <a:off x="8591550" y="2355652"/>
            <a:ext cx="260311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A7490"/>
                </a:solidFill>
                <a:latin typeface="JetBrains Mono" pitchFamily="49" charset="0"/>
                <a:ea typeface="JetBrains Mono" pitchFamily="49" charset="-122"/>
                <a:cs typeface="JetBrains Mono" pitchFamily="49" charset="-120"/>
              </a:rPr>
              <a:t>03</a:t>
            </a:r>
            <a:endParaRPr lang="en-US" sz="1400" dirty="0"/>
          </a:p>
        </p:txBody>
      </p:sp>
      <p:sp>
        <p:nvSpPr>
          <p:cNvPr id="16" name="Text 12"/>
          <p:cNvSpPr/>
          <p:nvPr/>
        </p:nvSpPr>
        <p:spPr>
          <a:xfrm>
            <a:off x="8591550" y="2706092"/>
            <a:ext cx="260311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220"/>
                </a:solidFill>
                <a:latin typeface="IBM Plex Sans" pitchFamily="34" charset="0"/>
                <a:ea typeface="IBM Plex Sans" pitchFamily="34" charset="-122"/>
                <a:cs typeface="IBM Plex Sans" pitchFamily="34" charset="-120"/>
              </a:rPr>
              <a:t>Result is logged</a:t>
            </a:r>
            <a:endParaRPr lang="en-US" sz="1800" dirty="0"/>
          </a:p>
        </p:txBody>
      </p:sp>
      <p:sp>
        <p:nvSpPr>
          <p:cNvPr id="17" name="Text 13"/>
          <p:cNvSpPr/>
          <p:nvPr/>
        </p:nvSpPr>
        <p:spPr>
          <a:xfrm>
            <a:off x="8591550" y="3081933"/>
            <a:ext cx="2603119"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B4A63"/>
                </a:solidFill>
                <a:latin typeface="IBM Plex Sans" pitchFamily="34" charset="0"/>
                <a:ea typeface="IBM Plex Sans" pitchFamily="34" charset="-122"/>
                <a:cs typeface="IBM Plex Sans" pitchFamily="34" charset="-120"/>
              </a:rPr>
              <a:t>The run is written to cron.log for later review.</a:t>
            </a:r>
            <a:endParaRPr lang="en-US" sz="1400" dirty="0"/>
          </a:p>
        </p:txBody>
      </p:sp>
      <p:sp>
        <p:nvSpPr>
          <p:cNvPr id="18" name="Text 14"/>
          <p:cNvSpPr/>
          <p:nvPr/>
        </p:nvSpPr>
        <p:spPr>
          <a:xfrm>
            <a:off x="812800" y="4269184"/>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1220"/>
                </a:solidFill>
                <a:latin typeface="IBM Plex Sans" pitchFamily="34" charset="0"/>
                <a:ea typeface="IBM Plex Sans" pitchFamily="34" charset="-122"/>
                <a:cs typeface="IBM Plex Sans" pitchFamily="34" charset="-120"/>
              </a:rPr>
              <a:t>Option 4</a:t>
            </a:r>
            <a:r>
              <a:rPr lang="en-US" sz="1600" dirty="0">
                <a:solidFill>
                  <a:srgbClr val="3B4A63"/>
                </a:solidFill>
                <a:latin typeface="IBM Plex Sans" pitchFamily="34" charset="0"/>
                <a:ea typeface="IBM Plex Sans" pitchFamily="34" charset="-122"/>
                <a:cs typeface="IBM Plex Sans" pitchFamily="34" charset="-120"/>
              </a:rPr>
              <a:t> manages cron jobs. </a:t>
            </a:r>
            <a:r>
              <a:rPr lang="en-US" sz="1600" b="1" dirty="0">
                <a:solidFill>
                  <a:srgbClr val="0B1220"/>
                </a:solidFill>
                <a:latin typeface="IBM Plex Sans" pitchFamily="34" charset="0"/>
                <a:ea typeface="IBM Plex Sans" pitchFamily="34" charset="-122"/>
                <a:cs typeface="IBM Plex Sans" pitchFamily="34" charset="-120"/>
              </a:rPr>
              <a:t>Option 6</a:t>
            </a:r>
            <a:r>
              <a:rPr lang="en-US" sz="1600" dirty="0">
                <a:solidFill>
                  <a:srgbClr val="3B4A63"/>
                </a:solidFill>
                <a:latin typeface="IBM Plex Sans" pitchFamily="34" charset="0"/>
                <a:ea typeface="IBM Plex Sans" pitchFamily="34" charset="-122"/>
                <a:cs typeface="IBM Plex Sans" pitchFamily="34" charset="-120"/>
              </a:rPr>
              <a:t> shows the scheduled logs.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22C7E8"/>
                </a:solidFill>
                <a:latin typeface="JetBrains Mono" pitchFamily="49" charset="0"/>
                <a:ea typeface="JetBrains Mono" pitchFamily="49" charset="-122"/>
                <a:cs typeface="JetBrains Mono" pitchFamily="49" charset="-120"/>
              </a:rPr>
              <a:t>RECOVERY</a:t>
            </a:r>
            <a:endParaRPr lang="en-US" sz="1400" dirty="0"/>
          </a:p>
        </p:txBody>
      </p:sp>
      <p:sp>
        <p:nvSpPr>
          <p:cNvPr id="3" name="Text 1"/>
          <p:cNvSpPr>
            <a:spLocks noGrp="1"/>
          </p:cNvSpPr>
          <p:nvPr>
            <p:ph type="title"/>
          </p:nvPr>
        </p:nvSpPr>
        <p:spPr>
          <a:xfrm>
            <a:off x="812800" y="1163241"/>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6FA"/>
                </a:solidFill>
                <a:latin typeface="IBM Plex Sans" pitchFamily="34" charset="0"/>
                <a:ea typeface="IBM Plex Sans" pitchFamily="34" charset="-122"/>
                <a:cs typeface="IBM Plex Sans" pitchFamily="34" charset="-120"/>
              </a:rPr>
              <a:t>Verify, restore, test</a:t>
            </a:r>
            <a:endParaRPr lang="en-US" sz="3600" dirty="0"/>
          </a:p>
        </p:txBody>
      </p:sp>
      <p:sp>
        <p:nvSpPr>
          <p:cNvPr id="4" name="Shape 2"/>
          <p:cNvSpPr/>
          <p:nvPr/>
        </p:nvSpPr>
        <p:spPr>
          <a:xfrm>
            <a:off x="815975" y="1974056"/>
            <a:ext cx="3380284" cy="2122091"/>
          </a:xfrm>
          <a:prstGeom prst="roundRect">
            <a:avLst>
              <a:gd name="adj" fmla="val 4638"/>
            </a:avLst>
          </a:prstGeom>
          <a:solidFill>
            <a:srgbClr val="131C31"/>
          </a:solidFill>
          <a:ln w="6350">
            <a:solidFill>
              <a:srgbClr val="22304D"/>
            </a:solidFill>
            <a:prstDash val="solid"/>
          </a:ln>
        </p:spPr>
        <p:txBody>
          <a:bodyPr/>
          <a:lstStyle/>
          <a:p>
            <a:endParaRPr lang="en-US"/>
          </a:p>
        </p:txBody>
      </p:sp>
      <p:sp>
        <p:nvSpPr>
          <p:cNvPr id="5" name="Text 3"/>
          <p:cNvSpPr/>
          <p:nvPr/>
        </p:nvSpPr>
        <p:spPr>
          <a:xfrm>
            <a:off x="1073150" y="2231231"/>
            <a:ext cx="295191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2C7E8"/>
                </a:solidFill>
                <a:latin typeface="JetBrains Mono" pitchFamily="49" charset="0"/>
                <a:ea typeface="JetBrains Mono" pitchFamily="49" charset="-122"/>
                <a:cs typeface="JetBrains Mono" pitchFamily="49" charset="-120"/>
              </a:rPr>
              <a:t>Option 5</a:t>
            </a:r>
            <a:endParaRPr lang="en-US" sz="1400" dirty="0"/>
          </a:p>
        </p:txBody>
      </p:sp>
      <p:sp>
        <p:nvSpPr>
          <p:cNvPr id="6" name="Text 4"/>
          <p:cNvSpPr/>
          <p:nvPr/>
        </p:nvSpPr>
        <p:spPr>
          <a:xfrm>
            <a:off x="1073150" y="2607072"/>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6FA"/>
                </a:solidFill>
                <a:latin typeface="IBM Plex Sans" pitchFamily="34" charset="0"/>
                <a:ea typeface="IBM Plex Sans" pitchFamily="34" charset="-122"/>
                <a:cs typeface="IBM Plex Sans" pitchFamily="34" charset="-120"/>
              </a:rPr>
              <a:t>Checksum test</a:t>
            </a:r>
            <a:endParaRPr lang="en-US" sz="2000" dirty="0"/>
          </a:p>
        </p:txBody>
      </p:sp>
      <p:sp>
        <p:nvSpPr>
          <p:cNvPr id="7" name="Text 5"/>
          <p:cNvSpPr/>
          <p:nvPr/>
        </p:nvSpPr>
        <p:spPr>
          <a:xfrm>
            <a:off x="1073150" y="3038872"/>
            <a:ext cx="295191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9FB0C8"/>
                </a:solidFill>
                <a:latin typeface="IBM Plex Sans" pitchFamily="34" charset="0"/>
                <a:ea typeface="IBM Plex Sans" pitchFamily="34" charset="-122"/>
                <a:cs typeface="IBM Plex Sans" pitchFamily="34" charset="-120"/>
              </a:rPr>
              <a:t>Uses sha256sum to confirm a backup archive has not been corrupted.</a:t>
            </a:r>
            <a:endParaRPr lang="en-US" sz="1500" dirty="0"/>
          </a:p>
        </p:txBody>
      </p:sp>
      <p:sp>
        <p:nvSpPr>
          <p:cNvPr id="8" name="Shape 6"/>
          <p:cNvSpPr/>
          <p:nvPr/>
        </p:nvSpPr>
        <p:spPr>
          <a:xfrm>
            <a:off x="4405809" y="1974056"/>
            <a:ext cx="3380383" cy="2122091"/>
          </a:xfrm>
          <a:prstGeom prst="roundRect">
            <a:avLst>
              <a:gd name="adj" fmla="val 4638"/>
            </a:avLst>
          </a:prstGeom>
          <a:solidFill>
            <a:srgbClr val="131C31"/>
          </a:solidFill>
          <a:ln w="6350">
            <a:solidFill>
              <a:srgbClr val="22304D"/>
            </a:solidFill>
            <a:prstDash val="solid"/>
          </a:ln>
        </p:spPr>
        <p:txBody>
          <a:bodyPr/>
          <a:lstStyle/>
          <a:p>
            <a:endParaRPr lang="en-US"/>
          </a:p>
        </p:txBody>
      </p:sp>
      <p:sp>
        <p:nvSpPr>
          <p:cNvPr id="9" name="Text 7"/>
          <p:cNvSpPr/>
          <p:nvPr/>
        </p:nvSpPr>
        <p:spPr>
          <a:xfrm>
            <a:off x="4662984" y="2231231"/>
            <a:ext cx="295201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78BFA"/>
                </a:solidFill>
                <a:latin typeface="JetBrains Mono" pitchFamily="49" charset="0"/>
                <a:ea typeface="JetBrains Mono" pitchFamily="49" charset="-122"/>
                <a:cs typeface="JetBrains Mono" pitchFamily="49" charset="-120"/>
              </a:rPr>
              <a:t>Option 8</a:t>
            </a:r>
            <a:endParaRPr lang="en-US" sz="1400" dirty="0"/>
          </a:p>
        </p:txBody>
      </p:sp>
      <p:sp>
        <p:nvSpPr>
          <p:cNvPr id="10" name="Text 8"/>
          <p:cNvSpPr/>
          <p:nvPr/>
        </p:nvSpPr>
        <p:spPr>
          <a:xfrm>
            <a:off x="4662984" y="2607072"/>
            <a:ext cx="295201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6FA"/>
                </a:solidFill>
                <a:latin typeface="IBM Plex Sans" pitchFamily="34" charset="0"/>
                <a:ea typeface="IBM Plex Sans" pitchFamily="34" charset="-122"/>
                <a:cs typeface="IBM Plex Sans" pitchFamily="34" charset="-120"/>
              </a:rPr>
              <a:t>Restore data</a:t>
            </a:r>
            <a:endParaRPr lang="en-US" sz="2000" dirty="0"/>
          </a:p>
        </p:txBody>
      </p:sp>
      <p:sp>
        <p:nvSpPr>
          <p:cNvPr id="11" name="Text 9"/>
          <p:cNvSpPr/>
          <p:nvPr/>
        </p:nvSpPr>
        <p:spPr>
          <a:xfrm>
            <a:off x="4662984" y="3038872"/>
            <a:ext cx="295201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9FB0C8"/>
                </a:solidFill>
                <a:latin typeface="IBM Plex Sans" pitchFamily="34" charset="0"/>
                <a:ea typeface="IBM Plex Sans" pitchFamily="34" charset="-122"/>
                <a:cs typeface="IBM Plex Sans" pitchFamily="34" charset="-120"/>
              </a:rPr>
              <a:t>restore.sh extracts a backup into the destination chosen on the dashboard.</a:t>
            </a:r>
            <a:endParaRPr lang="en-US" sz="1500" dirty="0"/>
          </a:p>
        </p:txBody>
      </p:sp>
      <p:sp>
        <p:nvSpPr>
          <p:cNvPr id="12" name="Shape 10"/>
          <p:cNvSpPr/>
          <p:nvPr/>
        </p:nvSpPr>
        <p:spPr>
          <a:xfrm>
            <a:off x="7995741" y="1974056"/>
            <a:ext cx="3380284" cy="2122091"/>
          </a:xfrm>
          <a:prstGeom prst="roundRect">
            <a:avLst>
              <a:gd name="adj" fmla="val 4638"/>
            </a:avLst>
          </a:prstGeom>
          <a:solidFill>
            <a:srgbClr val="131C31"/>
          </a:solidFill>
          <a:ln w="6350">
            <a:solidFill>
              <a:srgbClr val="22304D"/>
            </a:solidFill>
            <a:prstDash val="solid"/>
          </a:ln>
        </p:spPr>
        <p:txBody>
          <a:bodyPr/>
          <a:lstStyle/>
          <a:p>
            <a:endParaRPr lang="en-US"/>
          </a:p>
        </p:txBody>
      </p:sp>
      <p:sp>
        <p:nvSpPr>
          <p:cNvPr id="13" name="Text 11"/>
          <p:cNvSpPr/>
          <p:nvPr/>
        </p:nvSpPr>
        <p:spPr>
          <a:xfrm>
            <a:off x="8252916" y="2231231"/>
            <a:ext cx="295191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2C7E8"/>
                </a:solidFill>
                <a:latin typeface="JetBrains Mono" pitchFamily="49" charset="0"/>
                <a:ea typeface="JetBrains Mono" pitchFamily="49" charset="-122"/>
                <a:cs typeface="JetBrains Mono" pitchFamily="49" charset="-120"/>
              </a:rPr>
              <a:t>Option 9</a:t>
            </a:r>
            <a:endParaRPr lang="en-US" sz="1400" dirty="0"/>
          </a:p>
        </p:txBody>
      </p:sp>
      <p:sp>
        <p:nvSpPr>
          <p:cNvPr id="14" name="Text 12"/>
          <p:cNvSpPr/>
          <p:nvPr/>
        </p:nvSpPr>
        <p:spPr>
          <a:xfrm>
            <a:off x="8252916" y="2607072"/>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6FA"/>
                </a:solidFill>
                <a:latin typeface="IBM Plex Sans" pitchFamily="34" charset="0"/>
                <a:ea typeface="IBM Plex Sans" pitchFamily="34" charset="-122"/>
                <a:cs typeface="IBM Plex Sans" pitchFamily="34" charset="-120"/>
              </a:rPr>
              <a:t>Recovery test</a:t>
            </a:r>
            <a:endParaRPr lang="en-US" sz="2000" dirty="0"/>
          </a:p>
        </p:txBody>
      </p:sp>
      <p:sp>
        <p:nvSpPr>
          <p:cNvPr id="15" name="Text 13"/>
          <p:cNvSpPr/>
          <p:nvPr/>
        </p:nvSpPr>
        <p:spPr>
          <a:xfrm>
            <a:off x="8252916" y="3038872"/>
            <a:ext cx="295191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9FB0C8"/>
                </a:solidFill>
                <a:latin typeface="IBM Plex Sans" pitchFamily="34" charset="0"/>
                <a:ea typeface="IBM Plex Sans" pitchFamily="34" charset="-122"/>
                <a:cs typeface="IBM Plex Sans" pitchFamily="34" charset="-120"/>
              </a:rPr>
              <a:t>recovery_test.sh demonstrates that a backup can really be recovered.</a:t>
            </a:r>
            <a:endParaRPr lang="en-US" sz="1500" dirty="0"/>
          </a:p>
        </p:txBody>
      </p:sp>
      <p:sp>
        <p:nvSpPr>
          <p:cNvPr id="16" name="Text 14"/>
          <p:cNvSpPr/>
          <p:nvPr/>
        </p:nvSpPr>
        <p:spPr>
          <a:xfrm>
            <a:off x="812800" y="440412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6ECF5"/>
                </a:solidFill>
                <a:latin typeface="IBM Plex Sans" pitchFamily="34" charset="0"/>
                <a:ea typeface="IBM Plex Sans" pitchFamily="34" charset="-122"/>
                <a:cs typeface="IBM Plex Sans" pitchFamily="34" charset="-120"/>
              </a:rPr>
              <a:t>A backup only counts once recovery has been shown to work.</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0A7490"/>
                </a:solidFill>
                <a:latin typeface="JetBrains Mono" pitchFamily="49" charset="0"/>
                <a:ea typeface="JetBrains Mono" pitchFamily="49" charset="-122"/>
                <a:cs typeface="JetBrains Mono" pitchFamily="49" charset="-120"/>
              </a:rPr>
              <a:t>DASHBOARD</a:t>
            </a:r>
            <a:endParaRPr lang="en-US" sz="1400" dirty="0"/>
          </a:p>
        </p:txBody>
      </p:sp>
      <p:sp>
        <p:nvSpPr>
          <p:cNvPr id="3" name="Text 1"/>
          <p:cNvSpPr>
            <a:spLocks noGrp="1"/>
          </p:cNvSpPr>
          <p:nvPr>
            <p:ph type="title"/>
          </p:nvPr>
        </p:nvSpPr>
        <p:spPr>
          <a:xfrm>
            <a:off x="812800" y="934641"/>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B1220"/>
                </a:solidFill>
                <a:latin typeface="IBM Plex Sans" pitchFamily="34" charset="0"/>
                <a:ea typeface="IBM Plex Sans" pitchFamily="34" charset="-122"/>
                <a:cs typeface="IBM Plex Sans" pitchFamily="34" charset="-120"/>
              </a:rPr>
              <a:t>The Tkinter dashboard</a:t>
            </a:r>
            <a:endParaRPr lang="en-US" sz="3200" dirty="0"/>
          </a:p>
        </p:txBody>
      </p:sp>
      <p:sp>
        <p:nvSpPr>
          <p:cNvPr id="4" name="Shape 2"/>
          <p:cNvSpPr/>
          <p:nvPr/>
        </p:nvSpPr>
        <p:spPr>
          <a:xfrm>
            <a:off x="812800" y="1584821"/>
            <a:ext cx="6604000" cy="4191000"/>
          </a:xfrm>
          <a:prstGeom prst="roundRect">
            <a:avLst>
              <a:gd name="adj" fmla="val 2424"/>
            </a:avLst>
          </a:prstGeom>
          <a:solidFill>
            <a:srgbClr val="0F172A"/>
          </a:solidFill>
          <a:ln/>
        </p:spPr>
        <p:txBody>
          <a:bodyPr/>
          <a:lstStyle/>
          <a:p>
            <a:endParaRPr lang="en-US"/>
          </a:p>
        </p:txBody>
      </p:sp>
      <p:pic>
        <p:nvPicPr>
          <p:cNvPr id="5" name="Image 0" descr="Screenshot of the Backup and Recovery Server dashboard with a ten-button main menu, a menu number field, an Execute button and a restore destination field"/>
          <p:cNvPicPr>
            <a:picLocks noChangeAspect="1"/>
          </p:cNvPicPr>
          <p:nvPr/>
        </p:nvPicPr>
        <p:blipFill>
          <a:blip r:embed="rId3"/>
          <a:srcRect l="-10" r="-10"/>
          <a:stretch/>
        </p:blipFill>
        <p:spPr>
          <a:xfrm>
            <a:off x="812800" y="1584821"/>
            <a:ext cx="6604000" cy="4191000"/>
          </a:xfrm>
          <a:prstGeom prst="roundRect">
            <a:avLst>
              <a:gd name="adj" fmla="val 2424"/>
            </a:avLst>
          </a:prstGeom>
        </p:spPr>
      </p:pic>
      <p:sp>
        <p:nvSpPr>
          <p:cNvPr id="6" name="Text 3"/>
          <p:cNvSpPr/>
          <p:nvPr/>
        </p:nvSpPr>
        <p:spPr>
          <a:xfrm>
            <a:off x="7721600" y="2649141"/>
            <a:ext cx="3767328"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1220"/>
                </a:solidFill>
                <a:latin typeface="IBM Plex Sans" pitchFamily="34" charset="0"/>
                <a:ea typeface="IBM Plex Sans" pitchFamily="34" charset="-122"/>
                <a:cs typeface="IBM Plex Sans" pitchFamily="34" charset="-120"/>
              </a:rPr>
              <a:t>Pick a task</a:t>
            </a:r>
            <a:r>
              <a:rPr lang="en-US" sz="1600" dirty="0">
                <a:solidFill>
                  <a:srgbClr val="3B4A63"/>
                </a:solidFill>
                <a:latin typeface="IBM Plex Sans" pitchFamily="34" charset="0"/>
                <a:ea typeface="IBM Plex Sans" pitchFamily="34" charset="-122"/>
                <a:cs typeface="IBM Plex Sans" pitchFamily="34" charset="-120"/>
              </a:rPr>
              <a:t> by clicking a button or typing 1–10, then Execute.</a:t>
            </a:r>
            <a:endParaRPr lang="en-US" sz="1600" dirty="0"/>
          </a:p>
        </p:txBody>
      </p:sp>
      <p:sp>
        <p:nvSpPr>
          <p:cNvPr id="7" name="Text 4"/>
          <p:cNvSpPr/>
          <p:nvPr/>
        </p:nvSpPr>
        <p:spPr>
          <a:xfrm>
            <a:off x="7721600" y="3395861"/>
            <a:ext cx="3767328"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1220"/>
                </a:solidFill>
                <a:latin typeface="IBM Plex Sans" pitchFamily="34" charset="0"/>
                <a:ea typeface="IBM Plex Sans" pitchFamily="34" charset="-122"/>
                <a:cs typeface="IBM Plex Sans" pitchFamily="34" charset="-120"/>
              </a:rPr>
              <a:t>Choose where to restore</a:t>
            </a:r>
            <a:r>
              <a:rPr lang="en-US" sz="1600" dirty="0">
                <a:solidFill>
                  <a:srgbClr val="3B4A63"/>
                </a:solidFill>
                <a:latin typeface="IBM Plex Sans" pitchFamily="34" charset="0"/>
                <a:ea typeface="IBM Plex Sans" pitchFamily="34" charset="-122"/>
                <a:cs typeface="IBM Plex Sans" pitchFamily="34" charset="-120"/>
              </a:rPr>
              <a:t> with the destination field and Browse.</a:t>
            </a:r>
            <a:endParaRPr lang="en-US" sz="1600" dirty="0"/>
          </a:p>
        </p:txBody>
      </p:sp>
      <p:sp>
        <p:nvSpPr>
          <p:cNvPr id="8" name="Text 5"/>
          <p:cNvSpPr/>
          <p:nvPr/>
        </p:nvSpPr>
        <p:spPr>
          <a:xfrm>
            <a:off x="7721600" y="4142581"/>
            <a:ext cx="3767328"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1220"/>
                </a:solidFill>
                <a:latin typeface="IBM Plex Sans" pitchFamily="34" charset="0"/>
                <a:ea typeface="IBM Plex Sans" pitchFamily="34" charset="-122"/>
                <a:cs typeface="IBM Plex Sans" pitchFamily="34" charset="-120"/>
              </a:rPr>
              <a:t>Follow progress</a:t>
            </a:r>
            <a:r>
              <a:rPr lang="en-US" sz="1600" dirty="0">
                <a:solidFill>
                  <a:srgbClr val="3B4A63"/>
                </a:solidFill>
                <a:latin typeface="IBM Plex Sans" pitchFamily="34" charset="0"/>
                <a:ea typeface="IBM Plex Sans" pitchFamily="34" charset="-122"/>
                <a:cs typeface="IBM Plex Sans" pitchFamily="34" charset="-120"/>
              </a:rPr>
              <a:t> in the status bar at the bottom.</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22C7E8"/>
                </a:solidFill>
                <a:latin typeface="JetBrains Mono" pitchFamily="49" charset="0"/>
                <a:ea typeface="JetBrains Mono" pitchFamily="49" charset="-122"/>
                <a:cs typeface="JetBrains Mono" pitchFamily="49" charset="-120"/>
              </a:rPr>
              <a:t>MENU</a:t>
            </a:r>
            <a:endParaRPr lang="en-US" sz="1400" dirty="0"/>
          </a:p>
        </p:txBody>
      </p:sp>
      <p:sp>
        <p:nvSpPr>
          <p:cNvPr id="3" name="Text 1"/>
          <p:cNvSpPr>
            <a:spLocks noGrp="1"/>
          </p:cNvSpPr>
          <p:nvPr>
            <p:ph type="title"/>
          </p:nvPr>
        </p:nvSpPr>
        <p:spPr>
          <a:xfrm>
            <a:off x="812800" y="1163241"/>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6FA"/>
                </a:solidFill>
                <a:latin typeface="IBM Plex Sans" pitchFamily="34" charset="0"/>
                <a:ea typeface="IBM Plex Sans" pitchFamily="34" charset="-122"/>
                <a:cs typeface="IBM Plex Sans" pitchFamily="34" charset="-120"/>
              </a:rPr>
              <a:t>Ten options, ten scripts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83581"/>
          <a:ext cx="5168900" cy="2315766"/>
        </p:xfrm>
        <a:graphic>
          <a:graphicData uri="http://schemas.openxmlformats.org/drawingml/2006/table">
            <a:tbl>
              <a:tblPr/>
              <a:tblGrid>
                <a:gridCol w="516890">
                  <a:extLst>
                    <a:ext uri="{9D8B030D-6E8A-4147-A177-3AD203B41FA5}">
                      <a16:colId xmlns:a16="http://schemas.microsoft.com/office/drawing/2014/main" val="20000"/>
                    </a:ext>
                  </a:extLst>
                </a:gridCol>
                <a:gridCol w="2481072">
                  <a:extLst>
                    <a:ext uri="{9D8B030D-6E8A-4147-A177-3AD203B41FA5}">
                      <a16:colId xmlns:a16="http://schemas.microsoft.com/office/drawing/2014/main" val="20001"/>
                    </a:ext>
                  </a:extLst>
                </a:gridCol>
                <a:gridCol w="2170938">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22C7E8"/>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C556B"/>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C556B"/>
                      </a:solidFill>
                      <a:prstDash val="solid"/>
                      <a:round/>
                      <a:headEnd type="none" w="med" len="med"/>
                      <a:tailEnd type="none" w="med" len="med"/>
                    </a:lnB>
                    <a:solidFill>
                      <a:srgbClr val="1B2744"/>
                    </a:solidFill>
                  </a:tcPr>
                </a:tc>
                <a:tc>
                  <a:txBody>
                    <a:bodyPr/>
                    <a:lstStyle/>
                    <a:p>
                      <a:pPr marL="0" indent="0">
                        <a:lnSpc>
                          <a:spcPts val="1960"/>
                        </a:lnSpc>
                        <a:buNone/>
                      </a:pPr>
                      <a:r>
                        <a:rPr lang="en-US" sz="1400" b="1" dirty="0">
                          <a:solidFill>
                            <a:srgbClr val="22C7E8"/>
                          </a:solidFill>
                          <a:latin typeface="IBM Plex Sans" pitchFamily="34" charset="0"/>
                          <a:ea typeface="IBM Plex Sans" pitchFamily="34" charset="-122"/>
                          <a:cs typeface="IBM Plex Sans" pitchFamily="34" charset="-120"/>
                        </a:rPr>
                        <a:t>Option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4C556B"/>
                      </a:solidFill>
                      <a:prstDash val="solid"/>
                      <a:round/>
                      <a:headEnd type="none" w="med" len="med"/>
                      <a:tailEnd type="none" w="med" len="med"/>
                    </a:lnL>
                    <a:lnR w="12700" cap="flat" cmpd="sng" algn="ctr">
                      <a:solidFill>
                        <a:srgbClr val="4C556B"/>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C556B"/>
                      </a:solidFill>
                      <a:prstDash val="solid"/>
                      <a:round/>
                      <a:headEnd type="none" w="med" len="med"/>
                      <a:tailEnd type="none" w="med" len="med"/>
                    </a:lnB>
                    <a:solidFill>
                      <a:srgbClr val="1B2744"/>
                    </a:solidFill>
                  </a:tcPr>
                </a:tc>
                <a:tc>
                  <a:txBody>
                    <a:bodyPr/>
                    <a:lstStyle/>
                    <a:p>
                      <a:pPr marL="0" indent="0">
                        <a:lnSpc>
                          <a:spcPts val="1960"/>
                        </a:lnSpc>
                        <a:buNone/>
                      </a:pPr>
                      <a:r>
                        <a:rPr lang="en-US" sz="1400" b="1" dirty="0">
                          <a:solidFill>
                            <a:srgbClr val="22C7E8"/>
                          </a:solidFill>
                          <a:latin typeface="IBM Plex Sans" pitchFamily="34" charset="0"/>
                          <a:ea typeface="IBM Plex Sans" pitchFamily="34" charset="-122"/>
                          <a:cs typeface="IBM Plex Sans" pitchFamily="34" charset="-120"/>
                        </a:rPr>
                        <a:t>Script</a:t>
                      </a:r>
                      <a:endParaRPr lang="en-US" sz="1400" dirty="0">
                        <a:latin typeface="IBM Plex Sans" charset="0"/>
                        <a:ea typeface="IBM Plex Sans" charset="0"/>
                        <a:cs typeface="IBM Plex Sans" charset="0"/>
                      </a:endParaRPr>
                    </a:p>
                  </a:txBody>
                  <a:tcPr marL="62230" marR="62230" marT="62230" marB="62230">
                    <a:lnL w="12700" cap="flat" cmpd="sng" algn="ctr">
                      <a:solidFill>
                        <a:srgbClr val="4C556B"/>
                      </a:solidFill>
                      <a:prstDash val="solid"/>
                      <a:round/>
                      <a:headEnd type="none" w="med" len="med"/>
                      <a:tailEnd type="none" w="med" len="med"/>
                    </a:lnL>
                    <a:lnR w="12700" cap="flat" cmpd="sng" algn="ctr">
                      <a:solidFill>
                        <a:srgbClr val="4C556B"/>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C556B"/>
                      </a:solidFill>
                      <a:prstDash val="solid"/>
                      <a:round/>
                      <a:headEnd type="none" w="med" len="med"/>
                      <a:tailEnd type="none" w="med" len="med"/>
                    </a:lnB>
                    <a:solidFill>
                      <a:srgbClr val="1B2744"/>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C556B"/>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Full Backup</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C556B"/>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backup.sh</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C556B"/>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Incremental Backup</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56"/>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backup.sh</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56"/>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List Backups</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list_backups.sh</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Cron Job Menu</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56"/>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cron_menu.sh</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56"/>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Backup Checksum Test</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checksum_test.sh</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extLst>
                  <a:ext uri="{0D108BD9-81ED-4DB2-BD59-A6C34878D82A}">
                    <a16:rowId xmlns:a16="http://schemas.microsoft.com/office/drawing/2014/main" val="10005"/>
                  </a:ext>
                </a:extLst>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10300" y="1983581"/>
          <a:ext cx="5168900" cy="2315766"/>
        </p:xfrm>
        <a:graphic>
          <a:graphicData uri="http://schemas.openxmlformats.org/drawingml/2006/table">
            <a:tbl>
              <a:tblPr/>
              <a:tblGrid>
                <a:gridCol w="516890">
                  <a:extLst>
                    <a:ext uri="{9D8B030D-6E8A-4147-A177-3AD203B41FA5}">
                      <a16:colId xmlns:a16="http://schemas.microsoft.com/office/drawing/2014/main" val="20000"/>
                    </a:ext>
                  </a:extLst>
                </a:gridCol>
                <a:gridCol w="2481072">
                  <a:extLst>
                    <a:ext uri="{9D8B030D-6E8A-4147-A177-3AD203B41FA5}">
                      <a16:colId xmlns:a16="http://schemas.microsoft.com/office/drawing/2014/main" val="20001"/>
                    </a:ext>
                  </a:extLst>
                </a:gridCol>
                <a:gridCol w="2170938">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22C7E8"/>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C556B"/>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C556B"/>
                      </a:solidFill>
                      <a:prstDash val="solid"/>
                      <a:round/>
                      <a:headEnd type="none" w="med" len="med"/>
                      <a:tailEnd type="none" w="med" len="med"/>
                    </a:lnB>
                    <a:solidFill>
                      <a:srgbClr val="1B2744"/>
                    </a:solidFill>
                  </a:tcPr>
                </a:tc>
                <a:tc>
                  <a:txBody>
                    <a:bodyPr/>
                    <a:lstStyle/>
                    <a:p>
                      <a:pPr marL="0" indent="0">
                        <a:lnSpc>
                          <a:spcPts val="1960"/>
                        </a:lnSpc>
                        <a:buNone/>
                      </a:pPr>
                      <a:r>
                        <a:rPr lang="en-US" sz="1400" b="1" dirty="0">
                          <a:solidFill>
                            <a:srgbClr val="22C7E8"/>
                          </a:solidFill>
                          <a:latin typeface="IBM Plex Sans" pitchFamily="34" charset="0"/>
                          <a:ea typeface="IBM Plex Sans" pitchFamily="34" charset="-122"/>
                          <a:cs typeface="IBM Plex Sans" pitchFamily="34" charset="-120"/>
                        </a:rPr>
                        <a:t>Option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4C556B"/>
                      </a:solidFill>
                      <a:prstDash val="solid"/>
                      <a:round/>
                      <a:headEnd type="none" w="med" len="med"/>
                      <a:tailEnd type="none" w="med" len="med"/>
                    </a:lnL>
                    <a:lnR w="12700" cap="flat" cmpd="sng" algn="ctr">
                      <a:solidFill>
                        <a:srgbClr val="4C556B"/>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C556B"/>
                      </a:solidFill>
                      <a:prstDash val="solid"/>
                      <a:round/>
                      <a:headEnd type="none" w="med" len="med"/>
                      <a:tailEnd type="none" w="med" len="med"/>
                    </a:lnB>
                    <a:solidFill>
                      <a:srgbClr val="1B2744"/>
                    </a:solidFill>
                  </a:tcPr>
                </a:tc>
                <a:tc>
                  <a:txBody>
                    <a:bodyPr/>
                    <a:lstStyle/>
                    <a:p>
                      <a:pPr marL="0" indent="0">
                        <a:lnSpc>
                          <a:spcPts val="1960"/>
                        </a:lnSpc>
                        <a:buNone/>
                      </a:pPr>
                      <a:r>
                        <a:rPr lang="en-US" sz="1400" b="1" dirty="0">
                          <a:solidFill>
                            <a:srgbClr val="22C7E8"/>
                          </a:solidFill>
                          <a:latin typeface="IBM Plex Sans" pitchFamily="34" charset="0"/>
                          <a:ea typeface="IBM Plex Sans" pitchFamily="34" charset="-122"/>
                          <a:cs typeface="IBM Plex Sans" pitchFamily="34" charset="-120"/>
                        </a:rPr>
                        <a:t>Script</a:t>
                      </a:r>
                      <a:endParaRPr lang="en-US" sz="1400" dirty="0">
                        <a:latin typeface="IBM Plex Sans" charset="0"/>
                        <a:ea typeface="IBM Plex Sans" charset="0"/>
                        <a:cs typeface="IBM Plex Sans" charset="0"/>
                      </a:endParaRPr>
                    </a:p>
                  </a:txBody>
                  <a:tcPr marL="62230" marR="62230" marT="62230" marB="62230">
                    <a:lnL w="12700" cap="flat" cmpd="sng" algn="ctr">
                      <a:solidFill>
                        <a:srgbClr val="4C556B"/>
                      </a:solidFill>
                      <a:prstDash val="solid"/>
                      <a:round/>
                      <a:headEnd type="none" w="med" len="med"/>
                      <a:tailEnd type="none" w="med" len="med"/>
                    </a:lnL>
                    <a:lnR w="12700" cap="flat" cmpd="sng" algn="ctr">
                      <a:solidFill>
                        <a:srgbClr val="4C556B"/>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C556B"/>
                      </a:solidFill>
                      <a:prstDash val="solid"/>
                      <a:round/>
                      <a:headEnd type="none" w="med" len="med"/>
                      <a:tailEnd type="none" w="med" len="med"/>
                    </a:lnB>
                    <a:solidFill>
                      <a:srgbClr val="1B2744"/>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C556B"/>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Scheduled Logs</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C556B"/>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scheduled_logs.sh</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C556B"/>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7</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View Application Log</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56"/>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view_log.sh</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56"/>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Restore Data</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restore.sh</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9</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Recovery Test</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56"/>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recovery_test.sh</a:t>
                      </a:r>
                      <a:endParaRPr lang="en-US" sz="1400" dirty="0">
                        <a:latin typeface="IBM Plex Sans" charset="0"/>
                        <a:ea typeface="IBM Plex Sans" charset="0"/>
                        <a:cs typeface="IBM Plex Sans" charset="0"/>
                      </a:endParaRPr>
                    </a:p>
                  </a:txBody>
                  <a:tcPr marL="62230" marR="62230" marT="62230" marB="62230">
                    <a:lnL w="12700" cap="flat" cmpd="sng" algn="ctr">
                      <a:solidFill>
                        <a:srgbClr val="434A56"/>
                      </a:solidFill>
                      <a:prstDash val="solid"/>
                      <a:round/>
                      <a:headEnd type="none" w="med" len="med"/>
                      <a:tailEnd type="none" w="med" len="med"/>
                    </a:lnL>
                    <a:lnR w="12700" cap="flat" cmpd="sng" algn="ctr">
                      <a:solidFill>
                        <a:srgbClr val="434A56"/>
                      </a:solidFill>
                      <a:prstDash val="solid"/>
                      <a:round/>
                      <a:headEnd type="none" w="med" len="med"/>
                      <a:tailEnd type="none" w="med" len="med"/>
                    </a:lnR>
                    <a:lnT w="12700" cap="flat" cmpd="sng" algn="ctr">
                      <a:solidFill>
                        <a:srgbClr val="464D5C"/>
                      </a:solidFill>
                      <a:prstDash val="solid"/>
                      <a:round/>
                      <a:headEnd type="none" w="med" len="med"/>
                      <a:tailEnd type="none" w="med" len="med"/>
                    </a:lnT>
                    <a:lnB w="12700" cap="flat" cmpd="sng" algn="ctr">
                      <a:solidFill>
                        <a:srgbClr val="434A56"/>
                      </a:solidFill>
                      <a:prstDash val="solid"/>
                      <a:round/>
                      <a:headEnd type="none" w="med" len="med"/>
                      <a:tailEnd type="none" w="med" len="med"/>
                    </a:lnB>
                    <a:solidFill>
                      <a:srgbClr val="0F1829"/>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10</a:t>
                      </a:r>
                      <a:endParaRPr lang="en-US" sz="1400" dirty="0">
                        <a:latin typeface="IBM Plex Sans" charset="0"/>
                        <a:ea typeface="IBM Plex Sans" charset="0"/>
                        <a:cs typeface="IBM Plex Sans" charset="0"/>
                      </a:endParaRPr>
                    </a:p>
                  </a:txBody>
                  <a:tcPr marL="62230" marR="62230" marT="62230" marB="62230">
                    <a:lnL w="12700" cap="flat" cmpd="sng" algn="ctr">
                      <a:solidFill>
                        <a:srgbClr val="40454F"/>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Input Validation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tc>
                  <a:txBody>
                    <a:bodyPr/>
                    <a:lstStyle/>
                    <a:p>
                      <a:pPr marL="0" indent="0">
                        <a:lnSpc>
                          <a:spcPts val="1960"/>
                        </a:lnSpc>
                        <a:buNone/>
                      </a:pPr>
                      <a:r>
                        <a:rPr lang="en-US" sz="1400" dirty="0">
                          <a:solidFill>
                            <a:srgbClr val="E6ECF5"/>
                          </a:solidFill>
                          <a:latin typeface="IBM Plex Sans" pitchFamily="34" charset="0"/>
                          <a:ea typeface="IBM Plex Sans" pitchFamily="34" charset="-122"/>
                          <a:cs typeface="IBM Plex Sans" pitchFamily="34" charset="-120"/>
                        </a:rPr>
                        <a:t>input_validation.sh</a:t>
                      </a:r>
                      <a:endParaRPr lang="en-US" sz="1400" dirty="0">
                        <a:latin typeface="IBM Plex Sans" charset="0"/>
                        <a:ea typeface="IBM Plex Sans" charset="0"/>
                        <a:cs typeface="IBM Plex Sans" charset="0"/>
                      </a:endParaRPr>
                    </a:p>
                  </a:txBody>
                  <a:tcPr marL="62230" marR="62230" marT="62230" marB="62230">
                    <a:lnL w="12700" cap="flat" cmpd="sng" algn="ctr">
                      <a:solidFill>
                        <a:srgbClr val="464D5C"/>
                      </a:solidFill>
                      <a:prstDash val="solid"/>
                      <a:round/>
                      <a:headEnd type="none" w="med" len="med"/>
                      <a:tailEnd type="none" w="med" len="med"/>
                    </a:lnL>
                    <a:lnR w="12700" cap="flat" cmpd="sng" algn="ctr">
                      <a:solidFill>
                        <a:srgbClr val="464D5C"/>
                      </a:solidFill>
                      <a:prstDash val="solid"/>
                      <a:round/>
                      <a:headEnd type="none" w="med" len="med"/>
                      <a:tailEnd type="none" w="med" len="med"/>
                    </a:lnR>
                    <a:lnT w="12700" cap="flat" cmpd="sng" algn="ctr">
                      <a:solidFill>
                        <a:srgbClr val="434A56"/>
                      </a:solidFill>
                      <a:prstDash val="solid"/>
                      <a:round/>
                      <a:headEnd type="none" w="med" len="med"/>
                      <a:tailEnd type="none" w="med" len="med"/>
                    </a:lnT>
                    <a:lnB w="12700" cap="flat" cmpd="sng" algn="ctr">
                      <a:solidFill>
                        <a:srgbClr val="464D5C"/>
                      </a:solidFill>
                      <a:prstDash val="solid"/>
                      <a:round/>
                      <a:headEnd type="none" w="med" len="med"/>
                      <a:tailEnd type="none" w="med" len="med"/>
                    </a:lnB>
                    <a:solidFill>
                      <a:srgbClr val="131C3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0A7490"/>
                </a:solidFill>
                <a:latin typeface="JetBrains Mono" pitchFamily="49" charset="0"/>
                <a:ea typeface="JetBrains Mono" pitchFamily="49" charset="-122"/>
                <a:cs typeface="JetBrains Mono" pitchFamily="49" charset="-120"/>
              </a:rPr>
              <a:t>LOGS AND VALIDATION</a:t>
            </a:r>
            <a:endParaRPr lang="en-US" sz="1400" dirty="0"/>
          </a:p>
        </p:txBody>
      </p:sp>
      <p:sp>
        <p:nvSpPr>
          <p:cNvPr id="3" name="Text 1"/>
          <p:cNvSpPr>
            <a:spLocks noGrp="1"/>
          </p:cNvSpPr>
          <p:nvPr>
            <p:ph type="title"/>
          </p:nvPr>
        </p:nvSpPr>
        <p:spPr>
          <a:xfrm>
            <a:off x="812800" y="1163241"/>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220"/>
                </a:solidFill>
                <a:latin typeface="IBM Plex Sans" pitchFamily="34" charset="0"/>
                <a:ea typeface="IBM Plex Sans" pitchFamily="34" charset="-122"/>
                <a:cs typeface="IBM Plex Sans" pitchFamily="34" charset="-120"/>
              </a:rPr>
              <a:t>Every action leaves a record</a:t>
            </a:r>
            <a:endParaRPr lang="en-US" sz="3600" dirty="0"/>
          </a:p>
        </p:txBody>
      </p:sp>
      <p:sp>
        <p:nvSpPr>
          <p:cNvPr id="4" name="Shape 2"/>
          <p:cNvSpPr/>
          <p:nvPr/>
        </p:nvSpPr>
        <p:spPr>
          <a:xfrm>
            <a:off x="815975" y="1974056"/>
            <a:ext cx="3380284" cy="1720850"/>
          </a:xfrm>
          <a:prstGeom prst="roundRect">
            <a:avLst>
              <a:gd name="adj" fmla="val 5720"/>
            </a:avLst>
          </a:prstGeom>
          <a:solidFill>
            <a:srgbClr val="FFFFFF"/>
          </a:solidFill>
          <a:ln w="6350">
            <a:solidFill>
              <a:srgbClr val="DDE3EE"/>
            </a:solidFill>
            <a:prstDash val="solid"/>
          </a:ln>
        </p:spPr>
        <p:txBody>
          <a:bodyPr/>
          <a:lstStyle/>
          <a:p>
            <a:endParaRPr lang="en-US"/>
          </a:p>
        </p:txBody>
      </p:sp>
      <p:sp>
        <p:nvSpPr>
          <p:cNvPr id="5" name="Text 3"/>
          <p:cNvSpPr/>
          <p:nvPr/>
        </p:nvSpPr>
        <p:spPr>
          <a:xfrm>
            <a:off x="1073150" y="2231231"/>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A7490"/>
                </a:solidFill>
                <a:latin typeface="IBM Plex Sans" pitchFamily="34" charset="0"/>
                <a:ea typeface="IBM Plex Sans" pitchFamily="34" charset="-122"/>
                <a:cs typeface="IBM Plex Sans" pitchFamily="34" charset="-120"/>
              </a:rPr>
              <a:t>backup.log</a:t>
            </a:r>
            <a:endParaRPr lang="en-US" sz="2000" dirty="0"/>
          </a:p>
        </p:txBody>
      </p:sp>
      <p:sp>
        <p:nvSpPr>
          <p:cNvPr id="6" name="Text 4"/>
          <p:cNvSpPr/>
          <p:nvPr/>
        </p:nvSpPr>
        <p:spPr>
          <a:xfrm>
            <a:off x="1073150" y="2637631"/>
            <a:ext cx="295191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B4A63"/>
                </a:solidFill>
                <a:latin typeface="IBM Plex Sans" pitchFamily="34" charset="0"/>
                <a:ea typeface="IBM Plex Sans" pitchFamily="34" charset="-122"/>
                <a:cs typeface="IBM Plex Sans" pitchFamily="34" charset="-120"/>
              </a:rPr>
              <a:t>The application log for backup and restore runs. Open it with option 7.</a:t>
            </a:r>
            <a:endParaRPr lang="en-US" sz="1500" dirty="0"/>
          </a:p>
        </p:txBody>
      </p:sp>
      <p:sp>
        <p:nvSpPr>
          <p:cNvPr id="7" name="Shape 5"/>
          <p:cNvSpPr/>
          <p:nvPr/>
        </p:nvSpPr>
        <p:spPr>
          <a:xfrm>
            <a:off x="4405809" y="1974056"/>
            <a:ext cx="3380383" cy="1720850"/>
          </a:xfrm>
          <a:prstGeom prst="roundRect">
            <a:avLst>
              <a:gd name="adj" fmla="val 5720"/>
            </a:avLst>
          </a:prstGeom>
          <a:solidFill>
            <a:srgbClr val="FFFFFF"/>
          </a:solidFill>
          <a:ln w="6350">
            <a:solidFill>
              <a:srgbClr val="DDE3EE"/>
            </a:solidFill>
            <a:prstDash val="solid"/>
          </a:ln>
        </p:spPr>
        <p:txBody>
          <a:bodyPr/>
          <a:lstStyle/>
          <a:p>
            <a:endParaRPr lang="en-US"/>
          </a:p>
        </p:txBody>
      </p:sp>
      <p:sp>
        <p:nvSpPr>
          <p:cNvPr id="8" name="Text 6"/>
          <p:cNvSpPr/>
          <p:nvPr/>
        </p:nvSpPr>
        <p:spPr>
          <a:xfrm>
            <a:off x="4662984" y="2231231"/>
            <a:ext cx="295201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A7490"/>
                </a:solidFill>
                <a:latin typeface="IBM Plex Sans" pitchFamily="34" charset="0"/>
                <a:ea typeface="IBM Plex Sans" pitchFamily="34" charset="-122"/>
                <a:cs typeface="IBM Plex Sans" pitchFamily="34" charset="-120"/>
              </a:rPr>
              <a:t>cron.log</a:t>
            </a:r>
            <a:endParaRPr lang="en-US" sz="2000" dirty="0"/>
          </a:p>
        </p:txBody>
      </p:sp>
      <p:sp>
        <p:nvSpPr>
          <p:cNvPr id="9" name="Text 7"/>
          <p:cNvSpPr/>
          <p:nvPr/>
        </p:nvSpPr>
        <p:spPr>
          <a:xfrm>
            <a:off x="4662984" y="2637631"/>
            <a:ext cx="295201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B4A63"/>
                </a:solidFill>
                <a:latin typeface="IBM Plex Sans" pitchFamily="34" charset="0"/>
                <a:ea typeface="IBM Plex Sans" pitchFamily="34" charset="-122"/>
                <a:cs typeface="IBM Plex Sans" pitchFamily="34" charset="-120"/>
              </a:rPr>
              <a:t>Records each scheduled run. Open it with option 6.</a:t>
            </a:r>
            <a:endParaRPr lang="en-US" sz="1500" dirty="0"/>
          </a:p>
        </p:txBody>
      </p:sp>
      <p:sp>
        <p:nvSpPr>
          <p:cNvPr id="10" name="Shape 8"/>
          <p:cNvSpPr/>
          <p:nvPr/>
        </p:nvSpPr>
        <p:spPr>
          <a:xfrm>
            <a:off x="7995741" y="1974056"/>
            <a:ext cx="3380284" cy="1720850"/>
          </a:xfrm>
          <a:prstGeom prst="roundRect">
            <a:avLst>
              <a:gd name="adj" fmla="val 5720"/>
            </a:avLst>
          </a:prstGeom>
          <a:solidFill>
            <a:srgbClr val="FFFFFF"/>
          </a:solidFill>
          <a:ln w="6350">
            <a:solidFill>
              <a:srgbClr val="DDE3EE"/>
            </a:solidFill>
            <a:prstDash val="solid"/>
          </a:ln>
        </p:spPr>
        <p:txBody>
          <a:bodyPr/>
          <a:lstStyle/>
          <a:p>
            <a:endParaRPr lang="en-US"/>
          </a:p>
        </p:txBody>
      </p:sp>
      <p:sp>
        <p:nvSpPr>
          <p:cNvPr id="11" name="Text 9"/>
          <p:cNvSpPr/>
          <p:nvPr/>
        </p:nvSpPr>
        <p:spPr>
          <a:xfrm>
            <a:off x="8252916" y="2231231"/>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A7490"/>
                </a:solidFill>
                <a:latin typeface="IBM Plex Sans" pitchFamily="34" charset="0"/>
                <a:ea typeface="IBM Plex Sans" pitchFamily="34" charset="-122"/>
                <a:cs typeface="IBM Plex Sans" pitchFamily="34" charset="-120"/>
              </a:rPr>
              <a:t>Input validation</a:t>
            </a:r>
            <a:endParaRPr lang="en-US" sz="2000" dirty="0"/>
          </a:p>
        </p:txBody>
      </p:sp>
      <p:sp>
        <p:nvSpPr>
          <p:cNvPr id="12" name="Text 10"/>
          <p:cNvSpPr/>
          <p:nvPr/>
        </p:nvSpPr>
        <p:spPr>
          <a:xfrm>
            <a:off x="8252916" y="2637631"/>
            <a:ext cx="295191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B4A63"/>
                </a:solidFill>
                <a:latin typeface="IBM Plex Sans" pitchFamily="34" charset="0"/>
                <a:ea typeface="IBM Plex Sans" pitchFamily="34" charset="-122"/>
                <a:cs typeface="IBM Plex Sans" pitchFamily="34" charset="-120"/>
              </a:rPr>
              <a:t>Menu input is checked before anything runs (option 10).</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22C7E8"/>
                </a:solidFill>
                <a:latin typeface="JetBrains Mono" pitchFamily="49" charset="0"/>
                <a:ea typeface="JetBrains Mono" pitchFamily="49" charset="-122"/>
                <a:cs typeface="JetBrains Mono" pitchFamily="49" charset="-120"/>
              </a:rPr>
              <a:t>CONCLUSION</a:t>
            </a:r>
            <a:endParaRPr lang="en-US" sz="1400" dirty="0"/>
          </a:p>
        </p:txBody>
      </p:sp>
      <p:sp>
        <p:nvSpPr>
          <p:cNvPr id="3" name="Text 1"/>
          <p:cNvSpPr>
            <a:spLocks noGrp="1"/>
          </p:cNvSpPr>
          <p:nvPr>
            <p:ph type="title"/>
          </p:nvPr>
        </p:nvSpPr>
        <p:spPr>
          <a:xfrm>
            <a:off x="812800" y="1163241"/>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6FA"/>
                </a:solidFill>
                <a:latin typeface="IBM Plex Sans" pitchFamily="34" charset="0"/>
                <a:ea typeface="IBM Plex Sans" pitchFamily="34" charset="-122"/>
                <a:cs typeface="IBM Plex Sans" pitchFamily="34" charset="-120"/>
              </a:rPr>
              <a:t>Outcomes and next steps</a:t>
            </a:r>
            <a:endParaRPr lang="en-US" sz="3600" dirty="0"/>
          </a:p>
        </p:txBody>
      </p:sp>
      <p:sp>
        <p:nvSpPr>
          <p:cNvPr id="4" name="Shape 2"/>
          <p:cNvSpPr/>
          <p:nvPr/>
        </p:nvSpPr>
        <p:spPr>
          <a:xfrm>
            <a:off x="815975" y="1974056"/>
            <a:ext cx="6107410" cy="2470150"/>
          </a:xfrm>
          <a:prstGeom prst="roundRect">
            <a:avLst>
              <a:gd name="adj" fmla="val 3985"/>
            </a:avLst>
          </a:prstGeom>
          <a:solidFill>
            <a:srgbClr val="131C31"/>
          </a:solidFill>
          <a:ln w="6350">
            <a:solidFill>
              <a:srgbClr val="22304D"/>
            </a:solidFill>
            <a:prstDash val="solid"/>
          </a:ln>
        </p:spPr>
        <p:txBody>
          <a:bodyPr/>
          <a:lstStyle/>
          <a:p>
            <a:endParaRPr lang="en-US"/>
          </a:p>
        </p:txBody>
      </p:sp>
      <p:sp>
        <p:nvSpPr>
          <p:cNvPr id="5" name="Text 3"/>
          <p:cNvSpPr/>
          <p:nvPr/>
        </p:nvSpPr>
        <p:spPr>
          <a:xfrm>
            <a:off x="1073150" y="2231231"/>
            <a:ext cx="576085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2C7E8"/>
                </a:solidFill>
                <a:latin typeface="IBM Plex Sans" pitchFamily="34" charset="0"/>
                <a:ea typeface="IBM Plex Sans" pitchFamily="34" charset="-122"/>
                <a:cs typeface="IBM Plex Sans" pitchFamily="34" charset="-120"/>
              </a:rPr>
              <a:t>What was achieved</a:t>
            </a:r>
            <a:endParaRPr lang="en-US" sz="2000" dirty="0"/>
          </a:p>
        </p:txBody>
      </p:sp>
      <p:sp>
        <p:nvSpPr>
          <p:cNvPr id="6" name="Text 4"/>
          <p:cNvSpPr/>
          <p:nvPr/>
        </p:nvSpPr>
        <p:spPr>
          <a:xfrm>
            <a:off x="1130808" y="2663031"/>
            <a:ext cx="5695574" cy="1549400"/>
          </a:xfrm>
          <a:prstGeom prst="rect">
            <a:avLst/>
          </a:prstGeom>
          <a:noFill/>
          <a:ln/>
        </p:spPr>
        <p:txBody>
          <a:bodyPr wrap="square" lIns="0" tIns="0" rIns="0" bIns="0" rtlCol="0" anchor="t">
            <a:normAutofit/>
          </a:bodyPr>
          <a:lstStyle/>
          <a:p>
            <a:pPr marL="196342" indent="-196342" algn="l">
              <a:lnSpc>
                <a:spcPts val="2400"/>
              </a:lnSpc>
              <a:buSzPct val="100000"/>
              <a:buChar char="•"/>
            </a:pPr>
            <a:r>
              <a:rPr lang="en-US" sz="1600" dirty="0">
                <a:solidFill>
                  <a:srgbClr val="E6ECF5"/>
                </a:solidFill>
                <a:latin typeface="IBM Plex Sans" pitchFamily="34" charset="0"/>
                <a:ea typeface="IBM Plex Sans" pitchFamily="34" charset="-122"/>
                <a:cs typeface="IBM Plex Sans" pitchFamily="34" charset="-120"/>
              </a:rPr>
              <a:t>Full and incremental backups from one dashboard</a:t>
            </a:r>
            <a:endParaRPr lang="en-US" sz="1600" dirty="0"/>
          </a:p>
          <a:p>
            <a:pPr marL="196342" indent="-196342" algn="l">
              <a:lnSpc>
                <a:spcPts val="2400"/>
              </a:lnSpc>
              <a:buSzPct val="100000"/>
              <a:buChar char="•"/>
            </a:pPr>
            <a:r>
              <a:rPr lang="en-US" sz="1600" dirty="0">
                <a:solidFill>
                  <a:srgbClr val="E6ECF5"/>
                </a:solidFill>
                <a:latin typeface="IBM Plex Sans" pitchFamily="34" charset="0"/>
                <a:ea typeface="IBM Plex Sans" pitchFamily="34" charset="-122"/>
                <a:cs typeface="IBM Plex Sans" pitchFamily="34" charset="-120"/>
              </a:rPr>
              <a:t>Scheduled backups through cron</a:t>
            </a:r>
            <a:endParaRPr lang="en-US" sz="1600" dirty="0"/>
          </a:p>
          <a:p>
            <a:pPr marL="196342" indent="-196342" algn="l">
              <a:lnSpc>
                <a:spcPts val="2400"/>
              </a:lnSpc>
              <a:buSzPct val="100000"/>
              <a:buChar char="•"/>
            </a:pPr>
            <a:r>
              <a:rPr lang="en-US" sz="1600" dirty="0">
                <a:solidFill>
                  <a:srgbClr val="E6ECF5"/>
                </a:solidFill>
                <a:latin typeface="IBM Plex Sans" pitchFamily="34" charset="0"/>
                <a:ea typeface="IBM Plex Sans" pitchFamily="34" charset="-122"/>
                <a:cs typeface="IBM Plex Sans" pitchFamily="34" charset="-120"/>
              </a:rPr>
              <a:t>Integrity checks with sha256sum</a:t>
            </a:r>
            <a:endParaRPr lang="en-US" sz="1600" dirty="0"/>
          </a:p>
          <a:p>
            <a:pPr marL="196342" indent="-196342" algn="l">
              <a:lnSpc>
                <a:spcPts val="2400"/>
              </a:lnSpc>
              <a:buSzPct val="100000"/>
              <a:buChar char="•"/>
            </a:pPr>
            <a:r>
              <a:rPr lang="en-US" sz="1600" dirty="0">
                <a:solidFill>
                  <a:srgbClr val="E6ECF5"/>
                </a:solidFill>
                <a:latin typeface="IBM Plex Sans" pitchFamily="34" charset="0"/>
                <a:ea typeface="IBM Plex Sans" pitchFamily="34" charset="-122"/>
                <a:cs typeface="IBM Plex Sans" pitchFamily="34" charset="-120"/>
              </a:rPr>
              <a:t>Restore and recovery test demonstrated</a:t>
            </a:r>
            <a:endParaRPr lang="en-US" sz="1600" dirty="0"/>
          </a:p>
          <a:p>
            <a:pPr marL="196342" indent="-196342" algn="l">
              <a:lnSpc>
                <a:spcPts val="2400"/>
              </a:lnSpc>
              <a:buSzPct val="100000"/>
              <a:buChar char="•"/>
            </a:pPr>
            <a:r>
              <a:rPr lang="en-US" sz="1600" dirty="0">
                <a:solidFill>
                  <a:srgbClr val="E6ECF5"/>
                </a:solidFill>
                <a:latin typeface="IBM Plex Sans" pitchFamily="34" charset="0"/>
                <a:ea typeface="IBM Plex Sans" pitchFamily="34" charset="-122"/>
                <a:cs typeface="IBM Plex Sans" pitchFamily="34" charset="-120"/>
              </a:rPr>
              <a:t>Logs for every backup and scheduled run</a:t>
            </a:r>
            <a:endParaRPr lang="en-US" sz="1600" dirty="0"/>
          </a:p>
        </p:txBody>
      </p:sp>
      <p:sp>
        <p:nvSpPr>
          <p:cNvPr id="7" name="Shape 5"/>
          <p:cNvSpPr/>
          <p:nvPr/>
        </p:nvSpPr>
        <p:spPr>
          <a:xfrm>
            <a:off x="7132935" y="1974056"/>
            <a:ext cx="4243090" cy="2470150"/>
          </a:xfrm>
          <a:prstGeom prst="roundRect">
            <a:avLst>
              <a:gd name="adj" fmla="val 3985"/>
            </a:avLst>
          </a:prstGeom>
          <a:solidFill>
            <a:srgbClr val="131C31"/>
          </a:solidFill>
          <a:ln w="6350">
            <a:solidFill>
              <a:srgbClr val="22304D"/>
            </a:solidFill>
            <a:prstDash val="solid"/>
          </a:ln>
        </p:spPr>
        <p:txBody>
          <a:bodyPr/>
          <a:lstStyle/>
          <a:p>
            <a:endParaRPr lang="en-US"/>
          </a:p>
        </p:txBody>
      </p:sp>
      <p:sp>
        <p:nvSpPr>
          <p:cNvPr id="8" name="Text 6"/>
          <p:cNvSpPr/>
          <p:nvPr/>
        </p:nvSpPr>
        <p:spPr>
          <a:xfrm>
            <a:off x="7390110" y="2231231"/>
            <a:ext cx="384060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A78BFA"/>
                </a:solidFill>
                <a:latin typeface="IBM Plex Sans" pitchFamily="34" charset="0"/>
                <a:ea typeface="IBM Plex Sans" pitchFamily="34" charset="-122"/>
                <a:cs typeface="IBM Plex Sans" pitchFamily="34" charset="-120"/>
              </a:rPr>
              <a:t>Possible next steps</a:t>
            </a:r>
            <a:endParaRPr lang="en-US" sz="2000" dirty="0"/>
          </a:p>
        </p:txBody>
      </p:sp>
      <p:sp>
        <p:nvSpPr>
          <p:cNvPr id="9" name="Text 7"/>
          <p:cNvSpPr/>
          <p:nvPr/>
        </p:nvSpPr>
        <p:spPr>
          <a:xfrm>
            <a:off x="7447768" y="2663031"/>
            <a:ext cx="3775324" cy="939800"/>
          </a:xfrm>
          <a:prstGeom prst="rect">
            <a:avLst/>
          </a:prstGeom>
          <a:noFill/>
          <a:ln/>
        </p:spPr>
        <p:txBody>
          <a:bodyPr wrap="square" lIns="0" tIns="0" rIns="0" bIns="0" rtlCol="0" anchor="t">
            <a:normAutofit/>
          </a:bodyPr>
          <a:lstStyle/>
          <a:p>
            <a:pPr marL="196342" indent="-196342" algn="l">
              <a:lnSpc>
                <a:spcPts val="2400"/>
              </a:lnSpc>
              <a:buSzPct val="100000"/>
              <a:buChar char="•"/>
            </a:pPr>
            <a:r>
              <a:rPr lang="en-US" sz="1600" dirty="0">
                <a:solidFill>
                  <a:srgbClr val="9FB0C8"/>
                </a:solidFill>
                <a:latin typeface="IBM Plex Sans" pitchFamily="34" charset="0"/>
                <a:ea typeface="IBM Plex Sans" pitchFamily="34" charset="-122"/>
                <a:cs typeface="IBM Plex Sans" pitchFamily="34" charset="-120"/>
              </a:rPr>
              <a:t>Off-site or remote copies</a:t>
            </a:r>
            <a:endParaRPr lang="en-US" sz="1600" dirty="0"/>
          </a:p>
          <a:p>
            <a:pPr marL="196342" indent="-196342" algn="l">
              <a:lnSpc>
                <a:spcPts val="2400"/>
              </a:lnSpc>
              <a:buSzPct val="100000"/>
              <a:buChar char="•"/>
            </a:pPr>
            <a:r>
              <a:rPr lang="en-US" sz="1600" dirty="0">
                <a:solidFill>
                  <a:srgbClr val="9FB0C8"/>
                </a:solidFill>
                <a:latin typeface="IBM Plex Sans" pitchFamily="34" charset="0"/>
                <a:ea typeface="IBM Plex Sans" pitchFamily="34" charset="-122"/>
                <a:cs typeface="IBM Plex Sans" pitchFamily="34" charset="-120"/>
              </a:rPr>
              <a:t>Email alerts on failure</a:t>
            </a:r>
            <a:endParaRPr lang="en-US" sz="1600" dirty="0"/>
          </a:p>
          <a:p>
            <a:pPr marL="196342" indent="-196342" algn="l">
              <a:lnSpc>
                <a:spcPts val="2400"/>
              </a:lnSpc>
              <a:buSzPct val="100000"/>
              <a:buChar char="•"/>
            </a:pPr>
            <a:r>
              <a:rPr lang="en-US" sz="1600" dirty="0">
                <a:solidFill>
                  <a:srgbClr val="9FB0C8"/>
                </a:solidFill>
                <a:latin typeface="IBM Plex Sans" pitchFamily="34" charset="0"/>
                <a:ea typeface="IBM Plex Sans" pitchFamily="34" charset="-122"/>
                <a:cs typeface="IBM Plex Sans" pitchFamily="34" charset="-120"/>
              </a:rPr>
              <a:t>Automatic cleanup of old backups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12800" y="2381945"/>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22C7E8"/>
                </a:solidFill>
                <a:latin typeface="JetBrains Mono" pitchFamily="49" charset="0"/>
                <a:ea typeface="JetBrains Mono" pitchFamily="49" charset="-122"/>
                <a:cs typeface="JetBrains Mono" pitchFamily="49" charset="-120"/>
              </a:rPr>
              <a:t>CENTRALIZED BACKUP &amp; RECOVERY SERVER</a:t>
            </a:r>
            <a:endParaRPr lang="en-US" sz="1400" dirty="0"/>
          </a:p>
        </p:txBody>
      </p:sp>
      <p:sp>
        <p:nvSpPr>
          <p:cNvPr id="3" name="Text 1"/>
          <p:cNvSpPr>
            <a:spLocks noGrp="1"/>
          </p:cNvSpPr>
          <p:nvPr>
            <p:ph type="title"/>
          </p:nvPr>
        </p:nvSpPr>
        <p:spPr>
          <a:xfrm>
            <a:off x="812800" y="2833985"/>
            <a:ext cx="10883392" cy="905470"/>
          </a:xfrm>
          <a:prstGeom prst="rect">
            <a:avLst/>
          </a:prstGeom>
          <a:noFill/>
          <a:ln/>
        </p:spPr>
        <p:txBody>
          <a:bodyPr wrap="square" lIns="0" tIns="0" rIns="0" bIns="0" rtlCol="0" anchor="t">
            <a:normAutofit/>
          </a:bodyPr>
          <a:lstStyle/>
          <a:p>
            <a:pPr marL="0" indent="0" algn="l">
              <a:lnSpc>
                <a:spcPts val="6930"/>
              </a:lnSpc>
              <a:buNone/>
            </a:pPr>
            <a:r>
              <a:rPr lang="en-US" sz="6600" b="1" i="0" dirty="0">
                <a:solidFill>
                  <a:srgbClr val="F4F6FA"/>
                </a:solidFill>
                <a:latin typeface="IBM Plex Sans" pitchFamily="34" charset="0"/>
                <a:ea typeface="IBM Plex Sans" pitchFamily="34" charset="-122"/>
                <a:cs typeface="IBM Plex Sans" pitchFamily="34" charset="-120"/>
              </a:rPr>
              <a:t>Thank you</a:t>
            </a:r>
            <a:endParaRPr lang="en-US" sz="6600" dirty="0"/>
          </a:p>
        </p:txBody>
      </p:sp>
    </p:spTree>
  </p:cSld>
  <p:clrMapOvr>
    <a:masterClrMapping/>
  </p:clrMapOvr>
</p:sld>
</file>

<file path=ppt/theme/theme1.xml><?xml version="1.0" encoding="utf-8"?>
<a:theme xmlns:a="http://schemas.openxmlformats.org/drawingml/2006/main" name="Centralized Backup and Recovery Server">
  <a:themeElements>
    <a:clrScheme name="Centralized Backup and Recovery Server">
      <a:dk1>
        <a:srgbClr val="0B1220"/>
      </a:dk1>
      <a:lt1>
        <a:srgbClr val="F4F6FA"/>
      </a:lt1>
      <a:dk2>
        <a:srgbClr val="222936"/>
      </a:dk2>
      <a:lt2>
        <a:srgbClr val="BABDC4"/>
      </a:lt2>
      <a:accent1>
        <a:srgbClr val="3B4A63"/>
      </a:accent1>
      <a:accent2>
        <a:srgbClr val="0A7490"/>
      </a:accent2>
      <a:accent3>
        <a:srgbClr val="9FB0C8"/>
      </a:accent3>
      <a:accent4>
        <a:srgbClr val="22C7E8"/>
      </a:accent4>
      <a:accent5>
        <a:srgbClr val="A78BFA"/>
      </a:accent5>
      <a:accent6>
        <a:srgbClr val="14213D"/>
      </a:accent6>
      <a:hlink>
        <a:srgbClr val="0563C1"/>
      </a:hlink>
      <a:folHlink>
        <a:srgbClr val="954F72"/>
      </a:folHlink>
    </a:clrScheme>
    <a:fontScheme name="Centralized Backup and Recovery Server">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1149</Words>
  <Application>Microsoft Office PowerPoint</Application>
  <PresentationFormat>Widescreen</PresentationFormat>
  <Paragraphs>199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IBM Plex Sans</vt:lpstr>
      <vt:lpstr>JetBrains Mono</vt:lpstr>
      <vt:lpstr>Arial</vt:lpstr>
      <vt:lpstr>Centralized Backup and Recovery Server</vt:lpstr>
      <vt:lpstr>Centralized Backup &amp; Recovery Server</vt:lpstr>
      <vt:lpstr>Protect data, and prove it can be recovered</vt:lpstr>
      <vt:lpstr>What the project delivers</vt:lpstr>
      <vt:lpstr>System architecture</vt:lpstr>
      <vt:lpstr>Five parts, one workflow</vt:lpstr>
      <vt:lpstr>Where everything lives</vt:lpstr>
      <vt:lpstr>Full and incremental backups</vt:lpstr>
      <vt:lpstr>Automated backups with cron</vt:lpstr>
      <vt:lpstr>Verify, restore, test</vt:lpstr>
      <vt:lpstr>The Tkinter dashboard</vt:lpstr>
      <vt:lpstr>Ten options, ten scripts</vt:lpstr>
      <vt:lpstr>Every action leaves a record</vt:lpstr>
      <vt:lpstr>Outcomes and 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Centralized Backup and Recovery Server</dc:title>
  <dc:subject/>
  <dc:creator>Hp</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dc:description>
  <cp:lastModifiedBy>Pujitha S</cp:lastModifiedBy>
  <cp:revision>2</cp:revision>
  <dcterms:created xsi:type="dcterms:W3CDTF">2026-10-27T13:27:30Z</dcterms:created>
  <dcterms:modified xsi:type="dcterms:W3CDTF">2026-10-27T13:29:43Z</dcterms:modified>
</cp:coreProperties>
</file>